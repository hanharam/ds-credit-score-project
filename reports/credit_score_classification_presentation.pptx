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2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목표, 데이터셋, 최종 성능을 한 장에서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제안서의 프로젝트 목표를 기반으로 하되 실제 코드에서 수행한 모델 비교와 평가 방식까지 반영한다. 이 페이지에는 최종 모델 결과를 넣지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타깃 분포와 feature 종류를 소개한다. 이후 전처리와 평가 지표 선택으로 자연스럽게 이어간다.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boxplot은 이상치가 많다는 근거로 사용한다. 너무 세부 수치보다 전처리 필요성을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장에서 전체 전처리 흐름을 순서대로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raw data에서 나온 값과 전처리 후 값을 비교한다. 전처리가 왜 필요한지 가장 직관적으로 보여주는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데이터 하나를 사용해 Type_of_Loan이 여러 binary column으로 바뀌는 것과 ratio feature 계산을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비율형 feature가 왜 중요한지 설명한다. 금액 수준과 부담 수준은 다르다는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컬럼을 하나씩 나열하기보다 발표에서 설명하기 쉬운 컬럼 그룹별 표로 정리했다.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조건이라는 표현 대신 단계별 실험 흐름으로 설명한다. Step 1~3은 ablation, Step 4~6은 모델 선택과 최종 평가다.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Ablation은 선택한 전처리가 감에 의한 것이 아니라 실험으로 검증되었다는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불균형 데이터라서 처리 전략을 비교했지만, 결과적으로 모든 imbalance 처리 방법이 좋은 것은 아니었다.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네 개를 비교한 이유를 설명한다. Random Forest가 왜 후보로 적절했는지 미리 깔아준다.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방식의 타당성을 설명한다. 불균형이 있기 때문에 macro metric을 쓴다는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비교의 핵심 결과다. 숫자를 읽고 왜 RF가 좋은지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모델의 핵심 지표와 confusion matrix, per-class metric을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06640" y="0"/>
            <a:ext cx="4800600" cy="6858000"/>
          </a:xfrm>
          <a:prstGeom prst="rect">
            <a:avLst/>
          </a:prstGeom>
          <a:solidFill>
            <a:srgbClr val="10263D"/>
          </a:solidFill>
          <a:ln w="12700">
            <a:solidFill>
              <a:srgbClr val="1026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 l="149505" t="20000" r="-149505" b="-20000"/>
          <a:stretch/>
        </p:blipFill>
        <p:spPr>
          <a:xfrm>
            <a:off x="6903720" y="566928"/>
            <a:ext cx="461772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932688"/>
            <a:ext cx="5852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Score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694944" y="2423160"/>
            <a:ext cx="53035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7E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behavior data 기반 고객 신용점수 분류 모델 구축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13232" y="4187952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841248" y="4315968"/>
            <a:ext cx="152704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41248" y="4709160"/>
            <a:ext cx="15270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Holdout Macro-F1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2697480" y="4187952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825496" y="4315968"/>
            <a:ext cx="1252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2825496" y="4709160"/>
            <a:ext cx="12527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407408" y="4187952"/>
            <a:ext cx="17190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4535424" y="4315968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20" name="Text 16"/>
          <p:cNvSpPr/>
          <p:nvPr/>
        </p:nvSpPr>
        <p:spPr>
          <a:xfrm>
            <a:off x="4535424" y="4709160"/>
            <a:ext cx="14630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880" dirty="0"/>
          </a:p>
        </p:txBody>
      </p:sp>
      <p:sp>
        <p:nvSpPr>
          <p:cNvPr id="21" name="Text 17"/>
          <p:cNvSpPr/>
          <p:nvPr/>
        </p:nvSpPr>
        <p:spPr>
          <a:xfrm>
            <a:off x="713232" y="6126480"/>
            <a:ext cx="4114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C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Term Project | Team 6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61FAC3-AEAC-78AA-AD53-12F8C76A1DB3}"/>
              </a:ext>
            </a:extLst>
          </p:cNvPr>
          <p:cNvSpPr/>
          <p:nvPr/>
        </p:nvSpPr>
        <p:spPr>
          <a:xfrm>
            <a:off x="7799890" y="3794760"/>
            <a:ext cx="40141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Objective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프로젝트 목표: 신용평가 자동화를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위한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다중분류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98448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94944" y="1426464"/>
            <a:ext cx="207568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Credit_Score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4944" y="1819656"/>
            <a:ext cx="20756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94944" y="2029968"/>
            <a:ext cx="207568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/ Standard / Poor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127248" y="1298448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55264" y="1426464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features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255264" y="1819656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Scope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55264" y="2029968"/>
            <a:ext cx="16642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+ financial behavior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285232" y="1298448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13248" y="1426464"/>
            <a:ext cx="14356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3-class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413248" y="1819656"/>
            <a:ext cx="14356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Task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413248" y="2029968"/>
            <a:ext cx="1435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B9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multi-class classification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333488" y="1298448"/>
            <a:ext cx="418795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07808" y="1572768"/>
            <a:ext cx="3063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 </a:t>
            </a:r>
            <a:r>
              <a:rPr 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중심</a:t>
            </a:r>
            <a:r>
              <a:rPr lang="ko-KR" altLang="en-US" sz="1500" b="1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으로</a:t>
            </a:r>
            <a:r>
              <a:rPr lang="ko-KR" alt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평가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16952" y="2048256"/>
            <a:ext cx="3493008" cy="23957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타깃 분포가 Standard 중심으로 불균형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Poor를 Good으로 </a:t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잘못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분류하면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위험 증가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Good을 Poor로 잘못 분류하면 영업 기회 손실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Macro-F1은 세 클래스를 동일 비중으로 평가</a:t>
            </a:r>
            <a:endParaRPr lang="en-US" sz="1080" dirty="0"/>
          </a:p>
          <a:p>
            <a:pPr marL="165100" indent="-165100">
              <a:lnSpc>
                <a:spcPct val="250000"/>
              </a:lnSpc>
              <a:buSzPct val="100000"/>
              <a:buChar char="•"/>
            </a:pPr>
            <a:r>
              <a:rPr lang="en-US" sz="108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목표</a:t>
            </a:r>
            <a:r>
              <a:rPr lang="en-US" sz="108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Macro-F1 &gt;= 0.75, per-class Recall &gt;= 0.70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21792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goals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" y="3120128"/>
            <a:ext cx="62636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승인, 신용한도 조정, 금리 결정에 활용 가능한 객관적 신용등급 예측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동일한 고객 프로필에 일관된 평가를 제공해 주관적 판단을 보완</a:t>
            </a:r>
            <a:endParaRPr lang="en-US" sz="114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Poor-grade 고객을 사전에 식별해 부실 대출 위험을 관리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21792" y="4736592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goals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" y="5055803"/>
            <a:ext cx="626364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Decision Tree를 baseline으로 두고 Logistic Regression, Random Forest, Gradient Boosting까지 비교</a:t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placeholder, impossible outlier, dirty numeric data</a:t>
            </a:r>
            <a:r>
              <a:rPr lang="ko-KR" altLang="en-US" sz="1060" dirty="0" err="1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를</a:t>
            </a: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정리하는 end-to-end preprocessing 구현</a:t>
            </a:r>
            <a:endParaRPr lang="en-US" sz="106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scaler 3종 x encoder 3종, imbalance 처리, GridSearchCV를 실제 코드에서 검증</a:t>
            </a:r>
            <a:endParaRPr lang="en-US" sz="106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 구조와 타깃 분포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4892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1_target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80160"/>
            <a:ext cx="4745736" cy="39684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1207008"/>
            <a:ext cx="5715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9893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주요 feature 그룹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89320" y="1901952"/>
            <a:ext cx="512064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989320" y="1901952"/>
            <a:ext cx="5120640" cy="42062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062472" y="197510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708392" y="197510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2322576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062472" y="239572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/ profile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08392" y="239572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2743200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62472" y="2816352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708392" y="2816352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89320" y="3163824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062472" y="3236976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behavior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08392" y="3236976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Credit_Utilization_Ratio, Outstanding_Debt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89320" y="3584448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062472" y="3657600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history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708392" y="3657600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005072"/>
            <a:ext cx="51206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062472" y="4078224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history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708392" y="4078224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Num_of_Delayed_Payment, Delay_from_due_date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89320" y="4425696"/>
            <a:ext cx="5120640" cy="42062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062472" y="4498848"/>
            <a:ext cx="14996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 behavior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08392" y="4498848"/>
            <a:ext cx="33284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Payment_Behaviour, Monthly_Balance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원본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</a:t>
            </a: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분석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207008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eda/fig03_boxplot_before_after.png"/>
          <p:cNvPicPr>
            <a:picLocks noChangeAspect="1"/>
          </p:cNvPicPr>
          <p:nvPr/>
        </p:nvPicPr>
        <p:blipFill>
          <a:blip r:embed="rId3"/>
          <a:srcRect l="17995" t="26975" r="-17995" b="-26975"/>
          <a:stretch/>
        </p:blipFill>
        <p:spPr>
          <a:xfrm>
            <a:off x="640079" y="1517666"/>
            <a:ext cx="4406933" cy="58796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1207008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80060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발견된 문제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1748527"/>
            <a:ext cx="6263640" cy="2542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숫자형이어야 하는 값이 object/string으로 저장됨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값 뒤 underscore가 붙은 비정상 numeric-like 값 존재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_, _______, !@9#%8 같은 placeholder가 결측 의미로 사용됨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Interest_Rate, Num_of_Loan 등에 현실적으로 불가능한 extreme outlier 존재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Credit_History_Age는 '22 Years and 1 Months' 형태의 문자열</a:t>
            </a:r>
            <a:endParaRPr lang="en-US" sz="120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고객의 월별 8개 기록이 있어 고객 단위 보정 가능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전처리 방향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00600" y="5010912"/>
            <a:ext cx="617220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도메인 기준으로 명백한 오류값을 NaN 처리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ffill/bfill 후 남은 결측은 pipeline imputer로 처리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비율형 파생변수로 금융 부담과 행동 패턴을 보강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전처리 파이프라인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2179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4980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→ NaN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_, _______, !@9#%8 제거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655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4456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4456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coercion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underscore 제거 후 숫자 변환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11312" y="1298448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339328" y="146304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39328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0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age parsing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1801368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Years/Months → 총 개월 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4980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removal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Name, SSN 제거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1655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4456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4456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cutoff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8348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현실 범위 밖 값 NaN 처리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2834640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339328" y="2999232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339328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78240" y="2990088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824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ffill/bfill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74980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4980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8872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encoding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8872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binary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1655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544568" y="45354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5445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8348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98348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부채/소득, EMI/월급 등 ratio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211312" y="4370832"/>
            <a:ext cx="3246120" cy="1069848"/>
          </a:xfrm>
          <a:prstGeom prst="roundRect">
            <a:avLst>
              <a:gd name="adj" fmla="val 68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8339328" y="4535424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33932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778240" y="4526280"/>
            <a:ext cx="2487168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pipeline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78240" y="4873752"/>
            <a:ext cx="248716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imputer + scaler + encoder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→ AFTER DATA PREPROPE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 데이터 전처리 예시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02920" y="1195080"/>
            <a:ext cx="11201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02920" y="1195080"/>
            <a:ext cx="1120140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76072" y="12682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2084832" y="12682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325112" y="12682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preprocessing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6336792" y="12682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02920" y="169800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6072" y="17711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Numeric-like string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084832" y="17711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28_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325112" y="17711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28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6336792" y="17711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숫자인데 문자열로 들어온 값에서 underscore 제거 후 numeric 변환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02920" y="220092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76072" y="227407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income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2084832" y="227407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34847.84_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4325112" y="227407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 = 34847.84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336792" y="227407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소득 컬럼도 동일하게 숫자형으로 변환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02920" y="270384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" y="277699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outlier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2084832" y="277699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-500 또는 7580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325112" y="277699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NaN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6336792" y="277699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사람 나이로 불가능하므로 domain 기준 이상치 처리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02920" y="320676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76072" y="327991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count outlier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2084832" y="327991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967 또는 -100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325112" y="327991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 = NaN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6336792" y="327991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수는 0~20 범위만 정상으로 간주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2920" y="3709680"/>
            <a:ext cx="11201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" y="378283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balance error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2084832" y="378283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__-333333...__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4325112" y="378283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Monthly_Balance = NaN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6336792" y="378283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음수 잔고 placeholder성 극단값 제거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02920" y="4212600"/>
            <a:ext cx="1120140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76072" y="4285752"/>
            <a:ext cx="13624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impute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2084832" y="4285752"/>
            <a:ext cx="20939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Monthly_Inhand_Salary = NaN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325112" y="4285752"/>
            <a:ext cx="1865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6336792" y="4285752"/>
            <a:ext cx="529437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같은 Customer_ID의 다른 월 값으로 ffill/bfill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 데이터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변환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444513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718833"/>
            <a:ext cx="411480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Type_of_Loan multi-label encoding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2139457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value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874520" y="2112025"/>
            <a:ext cx="3611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Loan, Credit-Builder Loan, Personal Loan, and Home Equity Loan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914400" y="2816113"/>
            <a:ext cx="1005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1874520" y="2770393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Loan_Auto_Loan=1 | Loan_Credit-Builder_Loan=1 | Loan_Personal_Loan=1 | Loan_Home_Equity_Loan=1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63640" y="1444513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19672" y="1718833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Customer_ID별 결측 보완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10528" y="2139457"/>
            <a:ext cx="4251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510528" y="2139457"/>
            <a:ext cx="4251960" cy="29260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0" y="2212609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record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2668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salary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281160" y="2212609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510528" y="2432065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2505217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72668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281160" y="2505217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10528" y="2724673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0" y="2797825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72668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281160" y="2797825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10528" y="3017281"/>
            <a:ext cx="42519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583680" y="3090433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72668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281160" y="3090433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510528" y="3309889"/>
            <a:ext cx="4251960" cy="29260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83680" y="3383041"/>
            <a:ext cx="99669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2668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281160" y="3383041"/>
            <a:ext cx="1408176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1824.843333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실제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데이터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변환</a:t>
            </a:r>
            <a:r>
              <a:rPr lang="en-US" alt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altLang="ko-KR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예시</a:t>
            </a:r>
            <a:endParaRPr lang="en-US" altLang="ko-KR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173188"/>
            <a:ext cx="10881360" cy="29877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173188"/>
            <a:ext cx="10881360" cy="511931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1246340"/>
            <a:ext cx="209397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246340"/>
            <a:ext cx="401421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246340"/>
            <a:ext cx="4334256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Meaning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181326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188642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188642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 / Annual_Income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88642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소득 대비 부채 부담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2453348"/>
            <a:ext cx="10881360" cy="41382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252650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52650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Total_EMI_per_month / Monthly_Inhand_Salary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52650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월급 대비 상환 부담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093428"/>
            <a:ext cx="10881360" cy="41382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31520" y="316658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316658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 / Monthly_Inhand_Salary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316658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저축/투자 행동 패턴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733508"/>
            <a:ext cx="10881360" cy="38974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" y="3806660"/>
            <a:ext cx="209397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806660"/>
            <a:ext cx="401421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Num_of_Delayed_Payment / Num_of_Loan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806660"/>
            <a:ext cx="4334256" cy="4263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규모를 고려한 연체 성향</a:t>
            </a:r>
            <a:endParaRPr lang="en-US" sz="1000" dirty="0"/>
          </a:p>
        </p:txBody>
      </p:sp>
      <p:sp>
        <p:nvSpPr>
          <p:cNvPr id="52" name="Shape 34">
            <a:extLst>
              <a:ext uri="{FF2B5EF4-FFF2-40B4-BE49-F238E27FC236}">
                <a16:creationId xmlns:a16="http://schemas.microsoft.com/office/drawing/2014/main" id="{1A43C14E-610C-215F-194E-329C44E7B5C7}"/>
              </a:ext>
            </a:extLst>
          </p:cNvPr>
          <p:cNvSpPr/>
          <p:nvPr/>
        </p:nvSpPr>
        <p:spPr>
          <a:xfrm>
            <a:off x="658368" y="4289077"/>
            <a:ext cx="10680192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4888E4C6-13A2-0C10-BD2B-B947201D92E4}"/>
              </a:ext>
            </a:extLst>
          </p:cNvPr>
          <p:cNvSpPr/>
          <p:nvPr/>
        </p:nvSpPr>
        <p:spPr>
          <a:xfrm>
            <a:off x="658368" y="4289077"/>
            <a:ext cx="10680192" cy="438912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44EA087C-4300-5419-6117-60C8D42105F1}"/>
              </a:ext>
            </a:extLst>
          </p:cNvPr>
          <p:cNvSpPr/>
          <p:nvPr/>
        </p:nvSpPr>
        <p:spPr>
          <a:xfrm>
            <a:off x="731520" y="4362229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feature</a:t>
            </a:r>
            <a:endParaRPr lang="en-US" sz="870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6224CE2E-1DA5-2752-B8B8-D2CBE5CF402C}"/>
              </a:ext>
            </a:extLst>
          </p:cNvPr>
          <p:cNvSpPr/>
          <p:nvPr/>
        </p:nvSpPr>
        <p:spPr>
          <a:xfrm>
            <a:off x="2697480" y="4362229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calculation example</a:t>
            </a:r>
            <a:endParaRPr lang="en-US" sz="87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9D736A21-2C36-DEF5-5E94-0A832D21D229}"/>
              </a:ext>
            </a:extLst>
          </p:cNvPr>
          <p:cNvSpPr/>
          <p:nvPr/>
        </p:nvSpPr>
        <p:spPr>
          <a:xfrm>
            <a:off x="8869680" y="4362229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870" dirty="0"/>
          </a:p>
        </p:txBody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002C36F0-E44C-95D3-5411-22DA7DB87DDC}"/>
              </a:ext>
            </a:extLst>
          </p:cNvPr>
          <p:cNvSpPr/>
          <p:nvPr/>
        </p:nvSpPr>
        <p:spPr>
          <a:xfrm>
            <a:off x="658368" y="4727989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0">
            <a:extLst>
              <a:ext uri="{FF2B5EF4-FFF2-40B4-BE49-F238E27FC236}">
                <a16:creationId xmlns:a16="http://schemas.microsoft.com/office/drawing/2014/main" id="{E34A59B2-0D42-D3EE-793F-18487EB91C0C}"/>
              </a:ext>
            </a:extLst>
          </p:cNvPr>
          <p:cNvSpPr/>
          <p:nvPr/>
        </p:nvSpPr>
        <p:spPr>
          <a:xfrm>
            <a:off x="731520" y="4801141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Debt_to_Income</a:t>
            </a:r>
            <a:endParaRPr lang="en-US" sz="870" dirty="0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68AEBEDD-638E-B8CF-4B95-84AAD393053A}"/>
              </a:ext>
            </a:extLst>
          </p:cNvPr>
          <p:cNvSpPr/>
          <p:nvPr/>
        </p:nvSpPr>
        <p:spPr>
          <a:xfrm>
            <a:off x="2697480" y="4801141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809.98 / (19114.12 + 1)</a:t>
            </a:r>
            <a:endParaRPr lang="en-US" sz="87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D262B385-B4B8-809F-B31D-C7118D8E3465}"/>
              </a:ext>
            </a:extLst>
          </p:cNvPr>
          <p:cNvSpPr/>
          <p:nvPr/>
        </p:nvSpPr>
        <p:spPr>
          <a:xfrm>
            <a:off x="8869680" y="4801141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0.0424</a:t>
            </a:r>
            <a:endParaRPr lang="en-US" sz="870" dirty="0"/>
          </a:p>
        </p:txBody>
      </p:sp>
      <p:sp>
        <p:nvSpPr>
          <p:cNvPr id="61" name="Shape 43">
            <a:extLst>
              <a:ext uri="{FF2B5EF4-FFF2-40B4-BE49-F238E27FC236}">
                <a16:creationId xmlns:a16="http://schemas.microsoft.com/office/drawing/2014/main" id="{DA00C24A-3B59-D991-3FBA-90B784677602}"/>
              </a:ext>
            </a:extLst>
          </p:cNvPr>
          <p:cNvSpPr/>
          <p:nvPr/>
        </p:nvSpPr>
        <p:spPr>
          <a:xfrm>
            <a:off x="658368" y="5166901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4">
            <a:extLst>
              <a:ext uri="{FF2B5EF4-FFF2-40B4-BE49-F238E27FC236}">
                <a16:creationId xmlns:a16="http://schemas.microsoft.com/office/drawing/2014/main" id="{9A43844B-21AB-CDAD-4A9B-B327493093D4}"/>
              </a:ext>
            </a:extLst>
          </p:cNvPr>
          <p:cNvSpPr/>
          <p:nvPr/>
        </p:nvSpPr>
        <p:spPr>
          <a:xfrm>
            <a:off x="731520" y="5240053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EMI_to_Salary</a:t>
            </a:r>
            <a:endParaRPr lang="en-US" sz="870" dirty="0"/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A64CC543-8928-E1EE-9C8A-E1B107F7E32B}"/>
              </a:ext>
            </a:extLst>
          </p:cNvPr>
          <p:cNvSpPr/>
          <p:nvPr/>
        </p:nvSpPr>
        <p:spPr>
          <a:xfrm>
            <a:off x="2697480" y="5240053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49.574949 / (1824.843333 + 1)</a:t>
            </a:r>
            <a:endParaRPr lang="en-US" sz="870" dirty="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3E2B7725-774F-A53C-3F7D-8CCBCFBC49C8}"/>
              </a:ext>
            </a:extLst>
          </p:cNvPr>
          <p:cNvSpPr/>
          <p:nvPr/>
        </p:nvSpPr>
        <p:spPr>
          <a:xfrm>
            <a:off x="8869680" y="5240053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0.0272</a:t>
            </a:r>
            <a:endParaRPr lang="en-US" sz="870" dirty="0"/>
          </a:p>
        </p:txBody>
      </p:sp>
      <p:sp>
        <p:nvSpPr>
          <p:cNvPr id="65" name="Shape 47">
            <a:extLst>
              <a:ext uri="{FF2B5EF4-FFF2-40B4-BE49-F238E27FC236}">
                <a16:creationId xmlns:a16="http://schemas.microsoft.com/office/drawing/2014/main" id="{1563A7CA-B235-D083-4CEE-F23B08F2129B}"/>
              </a:ext>
            </a:extLst>
          </p:cNvPr>
          <p:cNvSpPr/>
          <p:nvPr/>
        </p:nvSpPr>
        <p:spPr>
          <a:xfrm>
            <a:off x="658368" y="5605813"/>
            <a:ext cx="10680192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>
            <a:extLst>
              <a:ext uri="{FF2B5EF4-FFF2-40B4-BE49-F238E27FC236}">
                <a16:creationId xmlns:a16="http://schemas.microsoft.com/office/drawing/2014/main" id="{413BAA93-C072-397B-28EE-93E3020A3AA5}"/>
              </a:ext>
            </a:extLst>
          </p:cNvPr>
          <p:cNvSpPr/>
          <p:nvPr/>
        </p:nvSpPr>
        <p:spPr>
          <a:xfrm>
            <a:off x="731520" y="5678965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Savings_Rate</a:t>
            </a:r>
            <a:endParaRPr lang="en-US" sz="870" dirty="0"/>
          </a:p>
        </p:txBody>
      </p:sp>
      <p:sp>
        <p:nvSpPr>
          <p:cNvPr id="67" name="Text 49">
            <a:extLst>
              <a:ext uri="{FF2B5EF4-FFF2-40B4-BE49-F238E27FC236}">
                <a16:creationId xmlns:a16="http://schemas.microsoft.com/office/drawing/2014/main" id="{79EFEA0A-703D-35F2-B21F-E6EBAC250B31}"/>
              </a:ext>
            </a:extLst>
          </p:cNvPr>
          <p:cNvSpPr/>
          <p:nvPr/>
        </p:nvSpPr>
        <p:spPr>
          <a:xfrm>
            <a:off x="2697480" y="5678965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80.415295 / (1824.843333 + 1)</a:t>
            </a:r>
            <a:endParaRPr lang="en-US" sz="870" dirty="0"/>
          </a:p>
        </p:txBody>
      </p:sp>
      <p:sp>
        <p:nvSpPr>
          <p:cNvPr id="68" name="Text 50">
            <a:extLst>
              <a:ext uri="{FF2B5EF4-FFF2-40B4-BE49-F238E27FC236}">
                <a16:creationId xmlns:a16="http://schemas.microsoft.com/office/drawing/2014/main" id="{6C59F8C2-9AC2-7D2A-4E7E-CD0B4D9FF8C5}"/>
              </a:ext>
            </a:extLst>
          </p:cNvPr>
          <p:cNvSpPr/>
          <p:nvPr/>
        </p:nvSpPr>
        <p:spPr>
          <a:xfrm>
            <a:off x="8869680" y="5678965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0.0440</a:t>
            </a:r>
            <a:endParaRPr lang="en-US" sz="870" dirty="0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EDDF706E-391B-62DA-19EE-7CD0A3A05940}"/>
              </a:ext>
            </a:extLst>
          </p:cNvPr>
          <p:cNvSpPr/>
          <p:nvPr/>
        </p:nvSpPr>
        <p:spPr>
          <a:xfrm>
            <a:off x="658368" y="6044725"/>
            <a:ext cx="10680192" cy="438912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>
            <a:extLst>
              <a:ext uri="{FF2B5EF4-FFF2-40B4-BE49-F238E27FC236}">
                <a16:creationId xmlns:a16="http://schemas.microsoft.com/office/drawing/2014/main" id="{62A77960-9AEE-2F7D-AE5A-ECDAFFFA51D9}"/>
              </a:ext>
            </a:extLst>
          </p:cNvPr>
          <p:cNvSpPr/>
          <p:nvPr/>
        </p:nvSpPr>
        <p:spPr>
          <a:xfrm>
            <a:off x="731520" y="6117877"/>
            <a:ext cx="181965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Delay_per_Loan</a:t>
            </a:r>
            <a:endParaRPr lang="en-US" sz="870" dirty="0"/>
          </a:p>
        </p:txBody>
      </p:sp>
      <p:sp>
        <p:nvSpPr>
          <p:cNvPr id="71" name="Text 53">
            <a:extLst>
              <a:ext uri="{FF2B5EF4-FFF2-40B4-BE49-F238E27FC236}">
                <a16:creationId xmlns:a16="http://schemas.microsoft.com/office/drawing/2014/main" id="{F7E59AB8-9843-F4C7-01A0-0B56A688CC52}"/>
              </a:ext>
            </a:extLst>
          </p:cNvPr>
          <p:cNvSpPr/>
          <p:nvPr/>
        </p:nvSpPr>
        <p:spPr>
          <a:xfrm>
            <a:off x="2697480" y="6117877"/>
            <a:ext cx="602589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(4 + 1)</a:t>
            </a:r>
            <a:endParaRPr lang="en-US" sz="870" dirty="0"/>
          </a:p>
        </p:txBody>
      </p:sp>
      <p:sp>
        <p:nvSpPr>
          <p:cNvPr id="72" name="Text 54">
            <a:extLst>
              <a:ext uri="{FF2B5EF4-FFF2-40B4-BE49-F238E27FC236}">
                <a16:creationId xmlns:a16="http://schemas.microsoft.com/office/drawing/2014/main" id="{6A0B04D8-0BCE-0924-A0F0-AEA40AF26816}"/>
              </a:ext>
            </a:extLst>
          </p:cNvPr>
          <p:cNvSpPr/>
          <p:nvPr/>
        </p:nvSpPr>
        <p:spPr>
          <a:xfrm>
            <a:off x="8869680" y="6117877"/>
            <a:ext cx="23957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1.4000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Preprocessing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MAP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컬럼별 의미와 전처리 요약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457200" y="1224920"/>
            <a:ext cx="11292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224920"/>
            <a:ext cx="11292840" cy="502920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" y="12980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group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947672" y="12980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columns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370832" y="12980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6336792" y="12980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57200" y="172784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" y="18009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947672" y="18009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Customer_ID, Name, SSN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370832" y="18009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개별 행/고객 식별 정보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6336792" y="18009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ID/Name/SSN 제거, Customer_ID는 imputation 후 제거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" y="223076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0352" y="23039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947672" y="23039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Occupation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370832" y="23039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고객 기본 정보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336792" y="23039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숫자 변환, 18~100 외 NaN, Occupation 최빈값 보정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" y="273368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28068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947672" y="28068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Annual_Income, Monthly_Inhand_Salary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370832" y="28068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연소득/월 실수령액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6336792" y="28068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underscore 제거, numeric 변환, 결측 median 보정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57200" y="323660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30975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usage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947672" y="330975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Outstanding_Debt, Credit_Utilization_Ratio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370832" y="330975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부채 규모와 신용 사용률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336792" y="330975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변환, 음수/비현실값 처리, ratio feature 생성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57200" y="373952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0352" y="381267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947672" y="381267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Num_of_Loan, Type_of_Loan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370832" y="381267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수와 대출 유형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336792" y="381267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대출 수 범위 제한, Type_of_Loan multi-label binarizing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57200" y="424244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352" y="431559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delay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947672" y="431559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Delay_from_due_date, Num_of_Delayed_Payment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4370832" y="431559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연체 일수와 지연 납부 횟수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6336792" y="431559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음수 제거, 범위 밖 값 NaN, Delay_per_Loan 생성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57200" y="4745360"/>
            <a:ext cx="112928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30352" y="481851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history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1947672" y="481851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Credit_History_Age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370832" y="481851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신용 이력 길이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336792" y="481851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'Years and Months' 문자열을 총 개월 수로 변환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57200" y="5248280"/>
            <a:ext cx="11292840" cy="502920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30352" y="5321432"/>
            <a:ext cx="127101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Spending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1947672" y="5321432"/>
            <a:ext cx="22768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Amount_invested_monthly, Monthly_Balance, Payment_Behaviour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370832" y="5321432"/>
            <a:ext cx="181965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투자/잔고/소비 행동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6336792" y="5321432"/>
            <a:ext cx="5340096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변환, 음수 제거, Savings_Rate 생성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DESIGN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단계별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흐름: 전처리 비교부터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평가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895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3210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100" b="1" dirty="0"/>
          </a:p>
        </p:txBody>
      </p:sp>
      <p:sp>
        <p:nvSpPr>
          <p:cNvPr id="10" name="Text 8"/>
          <p:cNvSpPr/>
          <p:nvPr/>
        </p:nvSpPr>
        <p:spPr>
          <a:xfrm>
            <a:off x="164592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처리 비교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365760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domain / domain_percentile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164592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제거 방식이 성능에 주는 영향 확인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217920" y="130959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382512" y="1474188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55664" y="1542768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9480" y="1455900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 비교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9281160" y="1474188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/ class_weight / SMOTE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269480" y="1830804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 방식이 macro-F1을 실제로 높이는지 확인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59436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895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210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4592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전처리 조합 비교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365760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scalers × 3 encoders = 9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164592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scaling과 categorical encoding 조합 비교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17920" y="279092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82512" y="2955516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55664" y="3024096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2937228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모델 비교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9281160" y="2955516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 / DT / RF / GB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269480" y="3312132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선형 baseline부터 tree ensemble까지 모델 성능 비교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59436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5895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3210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4592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하이퍼파라미터 튜닝</a:t>
            </a:r>
            <a:endParaRPr lang="en-US" sz="1240" dirty="0"/>
          </a:p>
        </p:txBody>
      </p:sp>
      <p:sp>
        <p:nvSpPr>
          <p:cNvPr id="35" name="Text 33"/>
          <p:cNvSpPr/>
          <p:nvPr/>
        </p:nvSpPr>
        <p:spPr>
          <a:xfrm>
            <a:off x="365760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GridSearchCV on best model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164592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가장 좋은 모델의 n_estimators, max_depth 등 튜닝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6217920" y="427225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382512" y="4436844"/>
            <a:ext cx="74980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455664" y="4505424"/>
            <a:ext cx="60350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69480" y="4418556"/>
            <a:ext cx="1965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4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holdout 평가</a:t>
            </a:r>
            <a:endParaRPr lang="en-US" sz="1240" dirty="0"/>
          </a:p>
        </p:txBody>
      </p:sp>
      <p:sp>
        <p:nvSpPr>
          <p:cNvPr id="41" name="Text 39"/>
          <p:cNvSpPr/>
          <p:nvPr/>
        </p:nvSpPr>
        <p:spPr>
          <a:xfrm>
            <a:off x="9281160" y="4436844"/>
            <a:ext cx="1874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 holdout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7269480" y="4793460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matrix와 class별 precision/recall/f1 확인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전처리 비교 결과: 이상치와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인코딩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선택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검증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outli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111496" cy="27340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115568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Users/hanhalam/Desktop/DS-credit-score-project/reports/figures/ablation_preprocess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1188720"/>
            <a:ext cx="5111496" cy="27340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" y="4117476"/>
            <a:ext cx="1077163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8368" y="4117476"/>
            <a:ext cx="10771632" cy="374904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31520" y="4190628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Outlier mode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286000" y="4190628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기준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5074920" y="4190628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처리 방식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58368" y="4492380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731520" y="4565532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286000" y="4565532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기준 없음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5074920" y="4565532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이상치 처리를 하지 않고 원본 값을 그대로 사용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658368" y="4867284"/>
            <a:ext cx="10771632" cy="374904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731520" y="4940436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286000" y="4940436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분석자가 정한 현실 범위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074920" y="4940436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18~100 | Bank Accounts 0~20 | Credit Card 0~20 | Interest Rate 0~100 | Loan 0~20 | Delayed Payment 0~100 | Credit Inquiries 0~100 | Due Date/Balance는 음수 제거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658368" y="5242188"/>
            <a:ext cx="10771632" cy="374904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731520" y="5315340"/>
            <a:ext cx="1408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domain_percentile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286000" y="5315340"/>
            <a:ext cx="26426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+ 통계적 극단값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5074920" y="5315340"/>
            <a:ext cx="6281928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처리 후 numeric 컬럼의 하위 0.5%, 상위 0.5% 극단값도 NaN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658368" y="5662812"/>
            <a:ext cx="10771632" cy="72766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914400" y="5713824"/>
            <a:ext cx="10241280" cy="59982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이상치 처리 비교: none / domain / domain_percentile 3개 방식 비교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전처리 조합 비교: Standard, MinMax, Robust scaler × OneHot, Ordinal, Target encoder = 9개 조합</a:t>
            </a:r>
            <a:endParaRPr lang="en-US" sz="1000" dirty="0">
              <a:latin typeface="Aptos" panose="020B0004020202020204" pitchFamily="34" charset="0"/>
            </a:endParaRPr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720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도메인 기반 이상치 제거가 none보다 안정적이며, OneHotEncoder 계열이 가장 일관적인 성능을 보임</a:t>
            </a:r>
            <a:endParaRPr lang="en-US" sz="1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Experiments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IMBALANCE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불균형 처리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6784848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ablation_im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16152"/>
            <a:ext cx="6638544" cy="41056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143000"/>
            <a:ext cx="3794760" cy="42519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9095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비교한 전략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59" y="1610264"/>
            <a:ext cx="3460055" cy="14346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None: class imbalance를 그대로 둠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class_weight='balanced': 소수 클래스에 더 큰 가중치</a:t>
            </a:r>
            <a:endParaRPr lang="en-US" sz="1120" dirty="0"/>
          </a:p>
          <a:p>
            <a:pPr marL="165100" indent="-165100">
              <a:lnSpc>
                <a:spcPct val="200000"/>
              </a:lnSpc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SMOTE: 소수 </a:t>
            </a:r>
            <a:r>
              <a:rPr lang="en-US" sz="112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클래스</a:t>
            </a:r>
            <a:r>
              <a:rPr lang="en-US" sz="11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sample 생성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909560" y="3273552"/>
            <a:ext cx="1005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9560" y="3512217"/>
            <a:ext cx="3154680" cy="156178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Forest에서는 </a:t>
            </a:r>
            <a:r>
              <a:rPr lang="en-US" sz="1060" b="1" dirty="0">
                <a:solidFill>
                  <a:srgbClr val="FF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전략</a:t>
            </a: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 macro-F1이 가장 높음</a:t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SMOTE는 금융 행동의 실제 분포를 단순 보간으로 만들며 noise를 추가했을 가능성</a:t>
            </a:r>
            <a:endParaRPr lang="en-US" sz="106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10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불균형 처리는 실험으로 검증해야 함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Modeling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비교한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5836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8696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9592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6908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선형 baseline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96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빠르고 해석 가능하지만 비선형 상호작용에는 한계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190488" y="132513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19088" y="152630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28048" y="150801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01200" y="157659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해석 가능한 tree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19088" y="198350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조건 기반 분기, 단일 트리라 overfitting 위험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836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8696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9592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06908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ensemble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8696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tree voting으로 noise와 비선형 패턴에 강함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0488" y="3291093"/>
            <a:ext cx="50749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19088" y="3492261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528048" y="3473973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9601200" y="3542553"/>
            <a:ext cx="11795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boosting ensemble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19088" y="3949461"/>
            <a:ext cx="44805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약한 모델을 순차 보완하지만 설정에 민감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06 Evaluation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/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Team 6 Data Science Term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EVALUATION</a:t>
            </a:r>
            <a:endParaRPr lang="en-US" sz="85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/>
            <a:r>
              <a:rPr lang="en-US" sz="250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평가 전략: CV 기반 모델 비교와 튜닝</a:t>
            </a:r>
            <a:endParaRPr lang="en-US" sz="250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58368" y="129844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Circle 1"/>
          <p:cNvSpPr/>
          <p:nvPr/>
        </p:nvSpPr>
        <p:spPr>
          <a:xfrm>
            <a:off x="822960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22960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1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6736" y="14630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Model comparison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16736" y="181051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Stratified K-Fold CV로 4개 모델 성능 비교</a:t>
            </a:r>
          </a:p>
        </p:txBody>
      </p:sp>
      <p:sp>
        <p:nvSpPr>
          <p:cNvPr id="12" name="Arrow 12"/>
          <p:cNvSpPr/>
          <p:nvPr/>
        </p:nvSpPr>
        <p:spPr>
          <a:xfrm>
            <a:off x="3904488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3"/>
          <p:cNvSpPr/>
          <p:nvPr/>
        </p:nvSpPr>
        <p:spPr>
          <a:xfrm>
            <a:off x="4343400" y="1298448"/>
            <a:ext cx="3566160" cy="1417320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Circle 2"/>
          <p:cNvSpPr/>
          <p:nvPr/>
        </p:nvSpPr>
        <p:spPr>
          <a:xfrm>
            <a:off x="4507992" y="1499616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15"/>
          <p:cNvSpPr txBox="1"/>
          <p:nvPr/>
        </p:nvSpPr>
        <p:spPr>
          <a:xfrm>
            <a:off x="450799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2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01768" y="14630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01768" y="181051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best model 기준 최적 하이퍼파라미터 탐색</a:t>
            </a:r>
          </a:p>
        </p:txBody>
      </p:sp>
      <p:sp>
        <p:nvSpPr>
          <p:cNvPr id="22" name="Arrow 22"/>
          <p:cNvSpPr/>
          <p:nvPr/>
        </p:nvSpPr>
        <p:spPr>
          <a:xfrm>
            <a:off x="8092440" y="1901952"/>
            <a:ext cx="329184" cy="219456"/>
          </a:xfrm>
          <a:prstGeom prst="chevron">
            <a:avLst/>
          </a:prstGeom>
          <a:solidFill>
            <a:srgbClr val="DCE8F7"/>
          </a:solidFill>
          <a:ln w="12700">
            <a:solidFill>
              <a:srgbClr val="DCE8F7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3"/>
          <p:cNvSpPr/>
          <p:nvPr/>
        </p:nvSpPr>
        <p:spPr>
          <a:xfrm>
            <a:off x="8549640" y="1298448"/>
            <a:ext cx="2926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Circle 3"/>
          <p:cNvSpPr/>
          <p:nvPr/>
        </p:nvSpPr>
        <p:spPr>
          <a:xfrm>
            <a:off x="8714232" y="149961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25"/>
          <p:cNvSpPr txBox="1"/>
          <p:nvPr/>
        </p:nvSpPr>
        <p:spPr>
          <a:xfrm>
            <a:off x="8714232" y="14996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/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3</a:t>
            </a:r>
            <a:endParaRPr lang="en-US" sz="115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08008" y="1463040"/>
            <a:ext cx="2057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135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Holdout Evaluation</a:t>
            </a:r>
            <a:endParaRPr lang="en-US" sz="135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08008" y="181051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20% holdout split에서 Confusion Matrix 및 클래스별 메트릭 산출</a:t>
            </a:r>
          </a:p>
        </p:txBody>
      </p:sp>
      <p:sp>
        <p:nvSpPr>
          <p:cNvPr id="28" name="Shape 28"/>
          <p:cNvSpPr/>
          <p:nvPr/>
        </p:nvSpPr>
        <p:spPr>
          <a:xfrm>
            <a:off x="822960" y="3246120"/>
            <a:ext cx="48920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9"/>
          <p:cNvSpPr/>
          <p:nvPr/>
        </p:nvSpPr>
        <p:spPr>
          <a:xfrm>
            <a:off x="822960" y="3246120"/>
            <a:ext cx="4892040" cy="502920"/>
          </a:xfrm>
          <a:prstGeom prst="rect">
            <a:avLst/>
          </a:prstGeom>
          <a:solidFill>
            <a:srgbClr val="17324D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896112" y="331927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Metric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96312" y="331927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Why it matters</a:t>
            </a:r>
            <a:endParaRPr lang="en-US" sz="920" dirty="0">
              <a:solidFill>
                <a:srgbClr val="FFFFFF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822960" y="374904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3"/>
          <p:cNvSpPr txBox="1"/>
          <p:nvPr/>
        </p:nvSpPr>
        <p:spPr>
          <a:xfrm>
            <a:off x="896112" y="382219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Accuracy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496312" y="382219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전체 예측 정확도 확인</a:t>
            </a:r>
          </a:p>
        </p:txBody>
      </p:sp>
      <p:sp>
        <p:nvSpPr>
          <p:cNvPr id="35" name="Shape 35"/>
          <p:cNvSpPr/>
          <p:nvPr/>
        </p:nvSpPr>
        <p:spPr>
          <a:xfrm>
            <a:off x="822960" y="425196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Box 36"/>
          <p:cNvSpPr txBox="1"/>
          <p:nvPr/>
        </p:nvSpPr>
        <p:spPr>
          <a:xfrm>
            <a:off x="896112" y="432511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Macro-F1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496312" y="432511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각 클래스의 F1-Score를 단순 산술 평균</a:t>
            </a:r>
          </a:p>
        </p:txBody>
      </p:sp>
      <p:sp>
        <p:nvSpPr>
          <p:cNvPr id="38" name="Shape 38"/>
          <p:cNvSpPr/>
          <p:nvPr/>
        </p:nvSpPr>
        <p:spPr>
          <a:xfrm>
            <a:off x="822960" y="4754880"/>
            <a:ext cx="4892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9"/>
          <p:cNvSpPr txBox="1"/>
          <p:nvPr/>
        </p:nvSpPr>
        <p:spPr>
          <a:xfrm>
            <a:off x="896112" y="482803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Macro-Recall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496312" y="482803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각 클래스를 놓치지 않는지 확인</a:t>
            </a:r>
          </a:p>
        </p:txBody>
      </p:sp>
      <p:sp>
        <p:nvSpPr>
          <p:cNvPr id="41" name="Shape 41"/>
          <p:cNvSpPr/>
          <p:nvPr/>
        </p:nvSpPr>
        <p:spPr>
          <a:xfrm>
            <a:off x="822960" y="5257800"/>
            <a:ext cx="48920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42"/>
          <p:cNvSpPr txBox="1"/>
          <p:nvPr/>
        </p:nvSpPr>
        <p:spPr>
          <a:xfrm>
            <a:off x="896112" y="5330952"/>
            <a:ext cx="145389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/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Confusion Matrix</a:t>
            </a:r>
            <a:endParaRPr lang="en-US" sz="920" dirty="0">
              <a:solidFill>
                <a:srgbClr val="172033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496312" y="5330952"/>
            <a:ext cx="3145536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9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어떤 클래스끼리 헷갈리는지 진단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모델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비교</a:t>
            </a: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500" b="1" dirty="0" err="1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결과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Users/hanhalam/Desktop/DS-credit-score-project/reports/figures/cv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188720"/>
            <a:ext cx="5568696" cy="40142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65392" y="1207008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65392" y="1207008"/>
            <a:ext cx="4572000" cy="475488"/>
          </a:xfrm>
          <a:prstGeom prst="rect">
            <a:avLst/>
          </a:prstGeom>
          <a:solidFill>
            <a:srgbClr val="17324D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638544" y="1280160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3874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98864" y="1280160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Macro-Recall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50424" y="1280160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5392" y="1682496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638544" y="1755648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3874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0.7697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98864" y="1755648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0.8001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50424" y="1755648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65392" y="2157984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638544" y="2231136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3874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0.7179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198864" y="2231136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0.7584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250424" y="2231136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0.7239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565392" y="2633472"/>
            <a:ext cx="45720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638544" y="2706624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3874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0.6948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98864" y="2706624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0.7038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250424" y="2706624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0.7142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65392" y="3108960"/>
            <a:ext cx="4572000" cy="475488"/>
          </a:xfrm>
          <a:prstGeom prst="rect">
            <a:avLst/>
          </a:prstGeom>
          <a:solidFill>
            <a:srgbClr val="F6F8FB"/>
          </a:solidFill>
          <a:ln w="381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638544" y="3182112"/>
            <a:ext cx="145389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23874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0.6567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198864" y="3182112"/>
            <a:ext cx="90525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0.7032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250424" y="3182112"/>
            <a:ext cx="813816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0.6647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65392" y="3950208"/>
            <a:ext cx="4572000" cy="1298448"/>
          </a:xfrm>
          <a:prstGeom prst="roundRect">
            <a:avLst>
              <a:gd name="adj" fmla="val 5634"/>
            </a:avLst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812280" y="411175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r>
              <a:rPr lang="ko-KR" altLang="en-US" sz="14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 지수가 좋은 이유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12280" y="4251452"/>
            <a:ext cx="3886200" cy="9509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비선형 금융 패턴과 feature interaction을 잘 포착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tree의 voting으로 단일 tree보다 안정적</a:t>
            </a:r>
            <a:endParaRPr lang="en-US" sz="950" dirty="0"/>
          </a:p>
          <a:p>
            <a:pPr marL="165100" indent="-165100">
              <a:lnSpc>
                <a:spcPct val="150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표로 나타낸 데이터의 노이즈와 이상치</a:t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에</a:t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비교적</a:t>
            </a:r>
            <a:r>
              <a:rPr lang="ko-KR" altLang="en-US" sz="950" dirty="0" err="1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으로</a:t>
            </a:r>
            <a:r>
              <a:rPr 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ko-KR" altLang="en-US" sz="9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강함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Final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6 Data Science Term Project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최종 모델: Random Forest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13816" y="1362456"/>
            <a:ext cx="16642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0.8187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13816" y="1755648"/>
            <a:ext cx="16642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Accuracy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834640" y="12344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62656" y="1362456"/>
            <a:ext cx="170992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962656" y="1755648"/>
            <a:ext cx="170992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Macro-F1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5029200" y="12344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157216" y="1362456"/>
            <a:ext cx="1892808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57216" y="1755648"/>
            <a:ext cx="189280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Macro-Recall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516368" y="123444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54112" y="1285047"/>
            <a:ext cx="1554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parameters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54112" y="1466028"/>
            <a:ext cx="2788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chemeClr val="accent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n_estimators=400 | max_depth=None | min_samples_leaf=1</a:t>
            </a:r>
            <a:endParaRPr lang="en-US" sz="880" dirty="0">
              <a:solidFill>
                <a:schemeClr val="accent5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" y="2487168"/>
            <a:ext cx="4892040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/Users/hanhalam/Desktop/DS-credit-score-project/reports/figures/confu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560320"/>
            <a:ext cx="4745736" cy="31272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806440" y="2487168"/>
            <a:ext cx="5413248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Users/hanhalam/Desktop/DS-credit-score-project/reports/figures/per_class_metric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79592" y="2560320"/>
            <a:ext cx="5266944" cy="3127248"/>
          </a:xfrm>
          <a:prstGeom prst="rect">
            <a:avLst/>
          </a:prstGeom>
        </p:spPr>
      </p:pic>
      <p:sp>
        <p:nvSpPr>
          <p:cNvPr id="23" name="Tuning setup"/>
          <p:cNvSpPr txBox="1"/>
          <p:nvPr/>
        </p:nvSpPr>
        <p:spPr>
          <a:xfrm>
            <a:off x="7754112" y="164286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820" b="1" dirty="0">
                <a:solidFill>
                  <a:srgbClr val="0F766E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Tuning setup</a:t>
            </a:r>
            <a:endParaRPr lang="en-US" sz="820" dirty="0">
              <a:solidFill>
                <a:srgbClr val="0F766E"/>
              </a:solidFill>
              <a:latin typeface="Aptos" pitchFamily="34" charset="0"/>
              <a:ea typeface="Aptos" pitchFamily="34" charset="0"/>
              <a:cs typeface="Aptos" pitchFamily="34" charset="0"/>
            </a:endParaRPr>
          </a:p>
        </p:txBody>
      </p:sp>
      <p:sp>
        <p:nvSpPr>
          <p:cNvPr id="24" name="Tuning details"/>
          <p:cNvSpPr txBox="1"/>
          <p:nvPr/>
        </p:nvSpPr>
        <p:spPr>
          <a:xfrm>
            <a:off x="7754112" y="1787850"/>
            <a:ext cx="33223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GridSearchCV: Stratified 5-fold, scoring=f1_macro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Search grid: n_estimators [200, 400]</a:t>
            </a:r>
          </a:p>
          <a:p>
            <a:pPr marL="0" indent="0" algn="l"/>
            <a:r>
              <a:rPr lang="en-US" sz="720" dirty="0">
                <a:solidFill>
                  <a:srgbClr val="5B667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max_depth [15, 25, None], min_samples_leaf [1, 5]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FooterR"/>
          <p:cNvSpPr/>
          <p:nvPr/>
        </p:nvSpPr>
        <p:spPr>
          <a:xfrm>
            <a:off x="877824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495"/>
                </a:solidFill>
                <a:latin typeface="Aptos" pitchFamily="34" charset="0"/>
              </a:rPr>
              <a:t>Team 6 Data Science Term Project</a:t>
            </a:r>
          </a:p>
        </p:txBody>
      </p:sp>
      <p:sp>
        <p:nvSpPr>
          <p:cNvPr id="5" name="SectionLabel"/>
          <p:cNvSpPr/>
          <p:nvPr/>
        </p:nvSpPr>
        <p:spPr>
          <a:xfrm>
            <a:off x="438912" y="34747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  <a:latin typeface="Aptos" pitchFamily="34" charset="0"/>
              </a:rPr>
              <a:t>AUXILIARY TASKS</a:t>
            </a:r>
          </a:p>
        </p:txBody>
      </p:sp>
      <p:sp>
        <p:nvSpPr>
          <p:cNvPr id="6" name="Title"/>
          <p:cNvSpPr/>
          <p:nvPr/>
        </p:nvSpPr>
        <p:spPr>
          <a:xfrm>
            <a:off x="438912" y="62179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</a:rPr>
              <a:t>보조 분석: Regression &amp; Clustering</a:t>
            </a:r>
          </a:p>
        </p:txBody>
      </p:sp>
      <p:sp>
        <p:nvSpPr>
          <p:cNvPr id="10" name="RegBox"/>
          <p:cNvSpPr/>
          <p:nvPr/>
        </p:nvSpPr>
        <p:spPr>
          <a:xfrm>
            <a:off x="438912" y="1280160"/>
            <a:ext cx="5486400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RegTitle"/>
          <p:cNvSpPr/>
          <p:nvPr/>
        </p:nvSpPr>
        <p:spPr>
          <a:xfrm>
            <a:off x="657072" y="1390000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Regression — Monthly_Balance 예측</a:t>
            </a:r>
          </a:p>
        </p:txBody>
      </p:sp>
      <p:sp>
        <p:nvSpPr>
          <p:cNvPr id="12" name="RegDesc"/>
          <p:cNvSpPr/>
          <p:nvPr/>
        </p:nvSpPr>
        <p:spPr>
          <a:xfrm>
            <a:off x="657072" y="1780000"/>
            <a:ext cx="50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나머지 feature로 월말 잔고를 예측하는 회귀 분석</a:t>
            </a:r>
          </a:p>
        </p:txBody>
      </p:sp>
      <p:sp>
        <p:nvSpPr>
          <p:cNvPr id="13" name="RegTableHeader"/>
          <p:cNvSpPr/>
          <p:nvPr/>
        </p:nvSpPr>
        <p:spPr>
          <a:xfrm>
            <a:off x="657072" y="2150000"/>
            <a:ext cx="5000000" cy="310896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</a:rPr>
              <a:t>Model                    R²          MAE</a:t>
            </a:r>
          </a:p>
        </p:txBody>
      </p:sp>
      <p:sp>
        <p:nvSpPr>
          <p:cNvPr id="14" name="RegRow1"/>
          <p:cNvSpPr/>
          <p:nvPr/>
        </p:nvSpPr>
        <p:spPr>
          <a:xfrm>
            <a:off x="657072" y="2460896"/>
            <a:ext cx="5000000" cy="3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1EC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033"/>
                </a:solidFill>
                <a:latin typeface="Aptos" pitchFamily="34" charset="0"/>
              </a:rPr>
              <a:t>Ridge                        0.70        83.18</a:t>
            </a:r>
          </a:p>
        </p:txBody>
      </p:sp>
      <p:sp>
        <p:nvSpPr>
          <p:cNvPr id="15" name="RegRow2"/>
          <p:cNvSpPr/>
          <p:nvPr/>
        </p:nvSpPr>
        <p:spPr>
          <a:xfrm>
            <a:off x="657072" y="2760896"/>
            <a:ext cx="5000000" cy="300000"/>
          </a:xfrm>
          <a:prstGeom prst="rect">
            <a:avLst/>
          </a:prstGeom>
          <a:solidFill>
            <a:srgbClr val="E6F7F4"/>
          </a:solidFill>
          <a:ln w="12700">
            <a:solidFill>
              <a:srgbClr val="8DD8C9"/>
            </a:solidFill>
            <a:prstDash val="solid"/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</a:rPr>
              <a:t>GradientBoosting     0.92 ★    33.14</a:t>
            </a:r>
          </a:p>
        </p:txBody>
      </p:sp>
      <p:sp>
        <p:nvSpPr>
          <p:cNvPr id="16" name="RegConclusion"/>
          <p:cNvSpPr/>
          <p:nvPr/>
        </p:nvSpPr>
        <p:spPr>
          <a:xfrm>
            <a:off x="559552" y="3423657"/>
            <a:ext cx="50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→ GradientBoosting이 R노 0.92로 월말 잔고의 92%를 설명</a:t>
            </a:r>
          </a:p>
        </p:txBody>
      </p:sp>
      <p:sp>
        <p:nvSpPr>
          <p:cNvPr id="20" name="ClustBox"/>
          <p:cNvSpPr/>
          <p:nvPr/>
        </p:nvSpPr>
        <p:spPr>
          <a:xfrm>
            <a:off x="6205872" y="1280160"/>
            <a:ext cx="5547168" cy="5000000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ClustTitle"/>
          <p:cNvSpPr/>
          <p:nvPr/>
        </p:nvSpPr>
        <p:spPr>
          <a:xfrm>
            <a:off x="6424032" y="139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ko-KR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</a:rPr>
              <a:t>Clustering — 소비패턴 군집화</a:t>
            </a:r>
          </a:p>
        </p:txBody>
      </p:sp>
      <p:sp>
        <p:nvSpPr>
          <p:cNvPr id="22" name="ClustDesc"/>
          <p:cNvSpPr/>
          <p:nvPr/>
        </p:nvSpPr>
        <p:spPr>
          <a:xfrm>
            <a:off x="6424032" y="1780000"/>
            <a:ext cx="5100000" cy="300000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pPr marL="0" indent="0" algn="l">
              <a:buNone/>
            </a:pPr>
            <a:r>
              <a:rPr lang="ko-KR" sz="14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</a:rPr>
              <a:t>KMeans(k=4) 소비/저축 변수 7개로 고객 군집화</a:t>
            </a:r>
          </a:p>
        </p:txBody>
      </p:sp>
      <p:sp>
        <p:nvSpPr>
          <p:cNvPr id="24" name="ClustConclusion"/>
          <p:cNvSpPr/>
          <p:nvPr/>
        </p:nvSpPr>
        <p:spPr>
          <a:xfrm>
            <a:off x="6424032" y="5050000"/>
            <a:ext cx="5100000" cy="310896"/>
          </a:xfrm>
          <a:prstGeom prst="rect">
            <a:avLst/>
          </a:prstGeom>
          <a:noFill/>
          <a:ln/>
        </p:spPr>
        <p:txBody>
          <a:bodyPr wrap="square" lIns="508" tIns="0" rIns="508" bIns="0" rtlCol="0" anchor="t">
            <a:normAutofit/>
          </a:bodyPr>
          <a:lstStyle/>
          <a:p>
            <a:r>
              <a:rPr 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itchFamily="34" charset="0"/>
                <a:ea typeface="Aptos" pitchFamily="34" charset="-122"/>
              </a:rPr>
              <a:t>→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k=5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일 때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Silhouette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최고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(0.37), elbow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기준으로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k=4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</a:t>
            </a:r>
            <a:endParaRPr lang="ko-KR" sz="1400" dirty="0">
              <a:solidFill>
                <a:schemeClr val="tx1">
                  <a:lumMod val="50000"/>
                  <a:lumOff val="50000"/>
                </a:schemeClr>
              </a:solidFill>
              <a:latin typeface="Aptos" pitchFamily="34" charset="0"/>
              <a:ea typeface="Aptos" pitchFamily="34" charset="-12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135909-33F0-4F18-9A53-7318C2BCB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032" y="2051151"/>
            <a:ext cx="4150867" cy="26197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Learning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20624" y="543269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29768" y="1142999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수행하며 얻은 핵심 인사이트와 개선 경험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85416"/>
            <a:ext cx="64008" cy="33741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어려움과 해결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688336"/>
            <a:ext cx="4992624" cy="0"/>
          </a:xfrm>
          <a:prstGeom prst="line">
            <a:avLst/>
          </a:prstGeom>
          <a:noFill/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 SMOTE OpenMP 충돌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environment.yml에 llvm-openmp / intel-openmp 명시적 포함으로 해결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Dirty data 전처리의 복잡성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placeholder / underscore / domain cutoff 9단계 파이프라인으로 체계화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→ 패키지화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src/ 8개 모듈로 분리, python -m src.train --all 한 줄로 전체 재현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30975" y="2185416"/>
            <a:ext cx="5394960" cy="3374136"/>
          </a:xfrm>
          <a:prstGeom prst="roundRect">
            <a:avLst>
              <a:gd name="adj" fmla="val 3523"/>
            </a:avLst>
          </a:prstGeom>
          <a:solidFill>
            <a:srgbClr val="FFFFFF"/>
          </a:solidFill>
          <a:ln w="19050">
            <a:solidFill>
              <a:srgbClr val="BBF7D0"/>
            </a:solidFill>
            <a:prstDash val="solid"/>
          </a:ln>
          <a:effectLst>
            <a:outerShdw blurRad="101600" dist="508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0975" y="2185416"/>
            <a:ext cx="64008" cy="33741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632143" y="234086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점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32143" y="2688336"/>
            <a:ext cx="4992624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2143" y="2862072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2143" y="28620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79615" y="2862072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SMOTE가 항상 성능을 높이지 않음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32143" y="3191256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3583" y="3191256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tree ensemble은 불균형 데이터를 스스로 처리 — SMOTE 적용이 오히려 역효과를 낼 수 있음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32143" y="3749040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2143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79615" y="374904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Scaler보다 Encoder 선택이 핵심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32143" y="4078224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3583" y="4078224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범주형 인코딩 방식이 수치형 스케일링보다 모델 성능에 더 직접적인 영향을 미침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32143" y="4636008"/>
            <a:ext cx="274320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2143" y="4636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79615" y="4636008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결과 자동 저장으로 효율화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32143" y="4965192"/>
            <a:ext cx="4992624" cy="420624"/>
          </a:xfrm>
          <a:prstGeom prst="roundRect">
            <a:avLst>
              <a:gd name="adj" fmla="val 1304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3583" y="49651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실험 결과를 자동 저장해 보고서 작성 시간 단축 및 재현성 확보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-243688" y="637794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45" name="TopBar">
            <a:extLst>
              <a:ext uri="{FF2B5EF4-FFF2-40B4-BE49-F238E27FC236}">
                <a16:creationId xmlns:a16="http://schemas.microsoft.com/office/drawing/2014/main" id="{A0237DE9-9CC7-474F-BCBE-219382570CE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Learning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99" y="5715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Source SW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98" y="11901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4551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소스코드를 GitHub에 공개하였으며, src/ 모듈 구조로 재현성을 확보했습니다</a:t>
            </a:r>
            <a:endParaRPr lang="en-US" sz="16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88A1B6F-619B-4160-A77D-2B6320005F7A}"/>
              </a:ext>
            </a:extLst>
          </p:cNvPr>
          <p:cNvGrpSpPr/>
          <p:nvPr/>
        </p:nvGrpSpPr>
        <p:grpSpPr>
          <a:xfrm>
            <a:off x="457197" y="1703802"/>
            <a:ext cx="11277295" cy="585216"/>
            <a:chOff x="512064" y="2185416"/>
            <a:chExt cx="11277295" cy="585216"/>
          </a:xfrm>
        </p:grpSpPr>
        <p:sp>
          <p:nvSpPr>
            <p:cNvPr id="5" name="Shape 3"/>
            <p:cNvSpPr/>
            <p:nvPr/>
          </p:nvSpPr>
          <p:spPr>
            <a:xfrm>
              <a:off x="512064" y="2185416"/>
              <a:ext cx="11277295" cy="585216"/>
            </a:xfrm>
            <a:prstGeom prst="roundRect">
              <a:avLst>
                <a:gd name="adj" fmla="val 15625"/>
              </a:avLst>
            </a:prstGeom>
            <a:solidFill>
              <a:srgbClr val="181E25"/>
            </a:solidFill>
            <a:ln/>
            <a:effectLst>
              <a:outerShdw blurRad="190500" dist="50800" dir="8100000" algn="bl" rotWithShape="0">
                <a:srgbClr val="2C1E74">
                  <a:alpha val="16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731520" y="2185416"/>
              <a:ext cx="10728655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오픈소스 공개  </a:t>
              </a:r>
              <a:r>
                <a:rPr lang="en-US" sz="1400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github.com/Hanharam/DS-credit-score-project</a:t>
              </a:r>
              <a:endParaRPr lang="en-US" sz="14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9AFAAE1-24C2-4B93-BD14-1B6945AB4C74}"/>
              </a:ext>
            </a:extLst>
          </p:cNvPr>
          <p:cNvGrpSpPr/>
          <p:nvPr/>
        </p:nvGrpSpPr>
        <p:grpSpPr>
          <a:xfrm>
            <a:off x="457200" y="2516109"/>
            <a:ext cx="11277295" cy="3703320"/>
            <a:chOff x="457200" y="2971800"/>
            <a:chExt cx="11277295" cy="3703320"/>
          </a:xfrm>
        </p:grpSpPr>
        <p:sp>
          <p:nvSpPr>
            <p:cNvPr id="7" name="Text 5"/>
            <p:cNvSpPr/>
            <p:nvPr/>
          </p:nvSpPr>
          <p:spPr>
            <a:xfrm>
              <a:off x="457200" y="2971800"/>
              <a:ext cx="11277295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src/  모듈 구조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3337560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457200" y="3337560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640080" y="3493008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76656" y="3493008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preprocessing.py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730752" y="3337560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세척, imputation, feature engineering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3986784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57200" y="3986784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640080" y="4142232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76656" y="4142232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model.py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730752" y="3986784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모델 정의 및 파라미터 그리드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" y="4636008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57200" y="4636008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40080" y="4791456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76656" y="4791456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evaluate.py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730752" y="4636008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CV, holdout, GridSearch, ablations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" y="5285232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57200" y="5285232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25" name="Shape 23"/>
            <p:cNvSpPr/>
            <p:nvPr/>
          </p:nvSpPr>
          <p:spPr>
            <a:xfrm>
              <a:off x="640080" y="5440680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676656" y="5440680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auxiliary.py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730752" y="5285232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regression, clustering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57200" y="5934456"/>
              <a:ext cx="11277295" cy="54864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101600" dist="508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457200" y="5934456"/>
              <a:ext cx="54864" cy="548640"/>
            </a:xfrm>
            <a:prstGeom prst="rect">
              <a:avLst/>
            </a:prstGeom>
            <a:solidFill>
              <a:srgbClr val="3B82F6"/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640080" y="6089904"/>
              <a:ext cx="2926080" cy="292608"/>
            </a:xfrm>
            <a:prstGeom prst="roundRect">
              <a:avLst>
                <a:gd name="adj" fmla="val 21875"/>
              </a:avLst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676656" y="6089904"/>
              <a:ext cx="28529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56F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visualize.py / eda.py / train.py</a:t>
              </a:r>
              <a:endParaRPr lang="en-US" sz="11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730752" y="5934456"/>
              <a:ext cx="7820863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45515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— 시각화, EDA, 전체 파이프라인 CLI</a:t>
              </a:r>
              <a:endParaRPr lang="en-US" sz="12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57200" y="6446520"/>
              <a:ext cx="914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E8E93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9</a:t>
              </a:r>
              <a:endParaRPr lang="en-US" sz="1000" dirty="0"/>
            </a:p>
          </p:txBody>
        </p:sp>
      </p:grpSp>
      <p:sp>
        <p:nvSpPr>
          <p:cNvPr id="34" name="Text 32"/>
          <p:cNvSpPr/>
          <p:nvPr/>
        </p:nvSpPr>
        <p:spPr>
          <a:xfrm>
            <a:off x="-213064" y="64465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635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6 Data Science Term Project</a:t>
            </a:r>
            <a:endParaRPr lang="en-US" sz="900" dirty="0"/>
          </a:p>
        </p:txBody>
      </p:sp>
      <p:sp>
        <p:nvSpPr>
          <p:cNvPr id="37" name="TopBar">
            <a:extLst>
              <a:ext uri="{FF2B5EF4-FFF2-40B4-BE49-F238E27FC236}">
                <a16:creationId xmlns:a16="http://schemas.microsoft.com/office/drawing/2014/main" id="{F22BE863-EBAD-43A4-9D62-96B5FC47E741}"/>
              </a:ext>
            </a:extLst>
          </p:cNvPr>
          <p:cNvSpPr/>
          <p:nvPr/>
        </p:nvSpPr>
        <p:spPr>
          <a:xfrm>
            <a:off x="0" y="-26633"/>
            <a:ext cx="12191695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2317</Words>
  <Application>Microsoft Office PowerPoint</Application>
  <PresentationFormat>와이드스크린</PresentationFormat>
  <Paragraphs>463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Pretendard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Data Science Term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Score Classification</dc:title>
  <dc:subject>Credit Score Classification</dc:subject>
  <dc:creator>Team 6</dc:creator>
  <cp:lastModifiedBy>이시우</cp:lastModifiedBy>
  <cp:revision>15</cp:revision>
  <dcterms:created xsi:type="dcterms:W3CDTF">2026-05-28T15:08:21Z</dcterms:created>
  <dcterms:modified xsi:type="dcterms:W3CDTF">2026-05-29T08:29:34Z</dcterms:modified>
</cp:coreProperties>
</file>