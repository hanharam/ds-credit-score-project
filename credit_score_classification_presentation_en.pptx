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12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목표, 데이터셋, 최종 성능을 한 장에서 먼저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제안서의 프로젝트 목표를 기반으로 하되 실제 코드에서 수행한 모델 비교와 평가 방식까지 반영한다. 이 페이지에는 최종 모델 결과를 넣지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타깃 분포와 feature 종류를 소개한다. 이후 전처리와 평가 지표 선택으로 자연스럽게 이어간다.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boxplot은 이상치가 많다는 근거로 사용한다. 너무 세부 수치보다 전처리 필요성을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장에서 전체 전처리 흐름을 순서대로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raw data에서 나온 값과 전처리 후 값을 비교한다. 전처리가 왜 필요한지 가장 직관적으로 보여주는 슬라이드다.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데이터 하나를 사용해 Type_of_Loan이 여러 binary column으로 바뀌는 것과 ratio feature 계산을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비율형 feature가 왜 중요한지 설명한다. 금액 수준과 부담 수준은 다르다는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컬럼을 하나씩 나열하기보다 발표에서 설명하기 쉬운 컬럼 그룹별 표로 정리했다.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조건이라는 표현 대신 단계별 실험 흐름으로 설명한다. Step 1~3은 ablation, Step 4~6은 모델 선택과 최종 평가다.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Ablation은 선택한 전처리가 감에 의한 것이 아니라 실험으로 검증되었다는 근거다.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불균형 데이터라서 처리 전략을 비교했지만, 결과적으로 모든 imbalance 처리 방법이 좋은 것은 아니었다.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네 개를 비교한 이유를 설명한다. Random Forest가 왜 후보로 적절했는지 미리 깔아준다.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방식의 타당성을 설명한다. 불균형이 있기 때문에 macro metric을 쓴다는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비교의 핵심 결과다. 숫자를 읽고 왜 RF가 좋은지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모델의 핵심 지표와 confusion matrix, per-class metric을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06640" y="0"/>
            <a:ext cx="4800600" cy="6858000"/>
          </a:xfrm>
          <a:prstGeom prst="rect">
            <a:avLst/>
          </a:prstGeom>
          <a:solidFill>
            <a:srgbClr val="10263D"/>
          </a:solidFill>
          <a:ln w="12700">
            <a:solidFill>
              <a:srgbClr val="102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Users/hanhalam/Desktop/DS-credit-score-project/reports/figures/cv_baseline.png"/>
          <p:cNvPicPr>
            <a:picLocks noChangeAspect="1"/>
          </p:cNvPicPr>
          <p:nvPr/>
        </p:nvPicPr>
        <p:blipFill>
          <a:blip r:embed="rId3"/>
          <a:srcRect l="149505" t="20000" r="-149505" b="-20000"/>
          <a:stretch/>
        </p:blipFill>
        <p:spPr>
          <a:xfrm>
            <a:off x="6903720" y="566928"/>
            <a:ext cx="461772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932688"/>
            <a:ext cx="58521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Score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694944" y="2423160"/>
            <a:ext cx="53035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7E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credit-score classification built on financial behavior data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13232" y="4187952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841248" y="4315968"/>
            <a:ext cx="152704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0.8114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841248" y="4709160"/>
            <a:ext cx="1527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Holdout Macro-F1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2697480" y="4187952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825496" y="4315968"/>
            <a:ext cx="1252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0.8187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2825496" y="4709160"/>
            <a:ext cx="1252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4407408" y="4187952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4535424" y="4315968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0.8122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4535424" y="4709160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Macro-Recall</a:t>
            </a:r>
            <a:endParaRPr lang="en-US" sz="880" dirty="0"/>
          </a:p>
        </p:txBody>
      </p:sp>
      <p:sp>
        <p:nvSpPr>
          <p:cNvPr id="21" name="Text 17"/>
          <p:cNvSpPr/>
          <p:nvPr/>
        </p:nvSpPr>
        <p:spPr>
          <a:xfrm>
            <a:off x="713232" y="6126480"/>
            <a:ext cx="4114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Term Project | Team 6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61FAC3-AEAC-78AA-AD53-12F8C76A1DB3}"/>
              </a:ext>
            </a:extLst>
          </p:cNvPr>
          <p:cNvSpPr/>
          <p:nvPr/>
        </p:nvSpPr>
        <p:spPr>
          <a:xfrm>
            <a:off x="7799890" y="3794760"/>
            <a:ext cx="40141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Objective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goal: multi-class classification for credit-evaluation automation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944" y="1426464"/>
            <a:ext cx="207568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Credit_Score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4944" y="1819656"/>
            <a:ext cx="2075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Target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94944" y="2029968"/>
            <a:ext cx="2075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/ Standard / Poor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27248" y="1298448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55264" y="1426464"/>
            <a:ext cx="16642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features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55264" y="1819656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Scope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55264" y="2029968"/>
            <a:ext cx="16642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+ financial behavior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85232" y="129844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13248" y="1426464"/>
            <a:ext cx="14356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3-class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13248" y="1819656"/>
            <a:ext cx="1435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Task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413248" y="2029968"/>
            <a:ext cx="1435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multi-class classification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333488" y="1298448"/>
            <a:ext cx="418795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07808" y="1572768"/>
            <a:ext cx="3063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Evaluated primarily on Macro-F1</a:t>
            </a:r>
            <a:r>
              <a:rPr lang="en-US" sz="150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ko-KR" altLang="en-US" sz="150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ko-KR" alt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16952" y="2048256"/>
            <a:ext cx="3493008" cy="23957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distribution is imbalanced, dominated by Standard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Misclassifying Poor as Good inflates default risk</a:t>
            </a: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Misclassifying Good as Poor loses business opportunity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weighs all three classes equally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Macro-F1 &gt;= 0.75, per-class Recall &gt;= 0.70</a:t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21792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goals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3120128"/>
            <a:ext cx="62636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credit ratings usable for loan approval, credit-limit changes, and interest-rate setting</a:t>
            </a:r>
            <a:endParaRPr lang="en-US" sz="114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consistent scoring for identical customer profiles to complement human judgment</a:t>
            </a:r>
            <a:endParaRPr lang="en-US" sz="114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Poor-grade customers up front to control non-performing loan risk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621792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goals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" y="5055803"/>
            <a:ext cx="6263640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Compare Logistic Regression, Random Forest, and Gradient Boosting against a Decision Tree baseline</a:t>
            </a:r>
            <a:endParaRPr lang="en-US" sz="106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End-to-end preprocessing that cleans placeholders, impossible outliers, and dirty numeric data</a:t>
            </a:r>
            <a:r>
              <a:rPr lang="ko-KR" altLang="en-US" sz="1060" dirty="0" err="1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06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Validate 3 scalers x 3 encoders, imbalance handling, and GridSearchCV in actual code</a:t>
            </a:r>
            <a:endParaRPr lang="en-US" sz="106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Data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structure and target distribution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07008"/>
            <a:ext cx="4892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eda/fig01_target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80160"/>
            <a:ext cx="4745736" cy="39684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1207008"/>
            <a:ext cx="5715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8932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feature groups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89320" y="1901952"/>
            <a:ext cx="5120640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989320" y="1901952"/>
            <a:ext cx="5120640" cy="420624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062472" y="1975104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708392" y="1975104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2322576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062472" y="2395728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profile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08392" y="2395728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Occupation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89320" y="2743200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62472" y="2816352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708392" y="2816352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Annual_Income, Monthly_Inhand_Salary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89320" y="3163824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062472" y="3236976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behavior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708392" y="3236976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Credit_Utilization_Ratio, Outstanding_Debt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89320" y="3584448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062472" y="3657600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history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708392" y="3657600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Num_of_Loan, Type_of_Loan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4005072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062472" y="4078224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history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708392" y="4078224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Num_of_Delayed_Payment, Delay_from_due_date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89320" y="4425696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062472" y="4498848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 behavior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08392" y="4498848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Payment_Behaviour, Monthly_Balance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data assessment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ko-KR" alt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07008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eda/fig03_boxplot_before_after.png"/>
          <p:cNvPicPr>
            <a:picLocks noChangeAspect="1"/>
          </p:cNvPicPr>
          <p:nvPr/>
        </p:nvPicPr>
        <p:blipFill>
          <a:blip r:embed="rId3"/>
          <a:srcRect l="17995" t="26975" r="-17995" b="-26975"/>
          <a:stretch/>
        </p:blipFill>
        <p:spPr>
          <a:xfrm>
            <a:off x="640079" y="1517666"/>
            <a:ext cx="4406933" cy="58796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1207008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80060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identified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1748527"/>
            <a:ext cx="6263640" cy="2542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values are stored as object/string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Trailing underscores corrupt numeric-like values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Placeholders (_, _______, !@9#%8) are used to mean missing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Physically impossible extreme outliers in Age, Interest_Rate, Num_of_Loan, etc.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Credit_History_Age is a string like '22 Years and 1 Months'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customer has 8 monthly records, enabling per-customer imputation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4681728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 strategy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5010912"/>
            <a:ext cx="6172200" cy="8046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obviously invalid values with NaN using domain bounds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Per-Customer_ID ffill/bfill, then a pipeline imputer for remaining gaps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ratio features that capture financial burden and behavior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pipeline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2179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4980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980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→ NaN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_, _______, !@9#%8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1655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4456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4456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coercion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Strip underscore and cast to numeric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1131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33932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3932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age parsing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Years/Months -&gt; total months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4980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980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removal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ID, Name, SSN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1655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54456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4456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cutoff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8348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out-of-range values with NaN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1131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33932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33932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impute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7824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Per-Customer_ID ffill/bfill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49808" y="453542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4980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encoding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8872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Type_of_Loan multi-label binary encoding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1655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544568" y="453542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5445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8348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8348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Debt/income, EMI/salary, and other ratios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1131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8339328" y="4535424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33932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77824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pipeline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7824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imputer + scaler + encoder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→ AFTER DATA PREPROPE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before/after preprocessing examples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95080"/>
            <a:ext cx="11201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95080"/>
            <a:ext cx="11201400" cy="502920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76072" y="126823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2084832" y="126823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value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4325112" y="126823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preprocessing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6336792" y="126823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02920" y="169800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6072" y="177115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Numeric-like string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2084832" y="177115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28_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4325112" y="177115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28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336792" y="177115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Strip trailing underscore from numeric-like string and cast to numeric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02920" y="220092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6072" y="227407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Dirty income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2084832" y="227407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 = 34847.84_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325112" y="227407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 = 34847.84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336792" y="227407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numeric coercion applied to the income column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02920" y="270384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" y="277699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outlier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2084832" y="277699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-500 or 7580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4325112" y="277699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NaN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6336792" y="277699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Impossible human age, dropped by domain cutoff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02920" y="320676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76072" y="327991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count outlier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2084832" y="327991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 = 967 or -100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4325112" y="327991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 = NaN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6336792" y="327991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0-20 loans are treated as valid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02920" y="370968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76072" y="378283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balance error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2084832" y="378283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Monthly_Balance = __-333333...__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4325112" y="378283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Monthly_Balance = NaN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6336792" y="378283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Negative-balance placeholder extreme removed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502920" y="421260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76072" y="428575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impute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2084832" y="428575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Monthly_Inhand_Salary = NaN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4325112" y="428575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6336792" y="428575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Filled from another month of the same Customer_ID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data-transformation examples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444513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1718833"/>
            <a:ext cx="4114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Type_of_Loan multi-label encoding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139457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value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1874520" y="2112025"/>
            <a:ext cx="3611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Loan, Credit-Builder Loan, Personal Loan, and Home Equity Loan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914400" y="2816113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1874520" y="2770393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Loan_Auto_Loan=1 | Loan_Credit-Builder_Loan=1 | Loan_Personal_Loan=1 | Loan_Home_Equity_Loan=1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63640" y="1444513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9672" y="1718833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Per-Customer_ID missing-value imputation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10528" y="2139457"/>
            <a:ext cx="4251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510528" y="2139457"/>
            <a:ext cx="4251960" cy="292608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0" y="2212609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record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26680" y="2212609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salary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281160" y="2212609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510528" y="2432065"/>
            <a:ext cx="42519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2505217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726680" y="2505217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281160" y="2505217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10528" y="2724673"/>
            <a:ext cx="4251960" cy="29260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83680" y="2797825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726680" y="2797825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281160" y="2797825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10528" y="3017281"/>
            <a:ext cx="42519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83680" y="3090433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726680" y="3090433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281160" y="3090433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10528" y="3309889"/>
            <a:ext cx="4251960" cy="29260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83680" y="3383041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26680" y="3383041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281160" y="3383041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data-transformation examples</a:t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altLang="ko-KR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173188"/>
            <a:ext cx="10881360" cy="29877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1173188"/>
            <a:ext cx="10881360" cy="511931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246340"/>
            <a:ext cx="209397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1246340"/>
            <a:ext cx="401421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246340"/>
            <a:ext cx="433425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Meaning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1813268"/>
            <a:ext cx="10881360" cy="41382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188642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Debt_to_Income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188642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Outstanding_Debt / Annual_Income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88642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 burden relative to income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453348"/>
            <a:ext cx="10881360" cy="41382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2650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EMI_to_Salary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252650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Total_EMI_per_month / Monthly_Inhand_Salary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252650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Repayment burden relative to monthly salary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3093428"/>
            <a:ext cx="10881360" cy="41382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16658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Savings_Rate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316658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Amount_invested_monthly / Monthly_Inhand_Salary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316658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 / investment behavior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733508"/>
            <a:ext cx="10881360" cy="38974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31520" y="380666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Delay_per_Loan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71800" y="380666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Num_of_Delayed_Payment / Num_of_Loan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380666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tendency normalized by loan count</a:t>
            </a:r>
            <a:endParaRPr lang="en-US" sz="1000" dirty="0"/>
          </a:p>
        </p:txBody>
      </p:sp>
      <p:sp>
        <p:nvSpPr>
          <p:cNvPr id="52" name="Shape 34">
            <a:extLst>
              <a:ext uri="{FF2B5EF4-FFF2-40B4-BE49-F238E27FC236}">
                <a16:creationId xmlns:a16="http://schemas.microsoft.com/office/drawing/2014/main" id="{1A43C14E-610C-215F-194E-329C44E7B5C7}"/>
              </a:ext>
            </a:extLst>
          </p:cNvPr>
          <p:cNvSpPr/>
          <p:nvPr/>
        </p:nvSpPr>
        <p:spPr>
          <a:xfrm>
            <a:off x="658368" y="4289077"/>
            <a:ext cx="106801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35">
            <a:extLst>
              <a:ext uri="{FF2B5EF4-FFF2-40B4-BE49-F238E27FC236}">
                <a16:creationId xmlns:a16="http://schemas.microsoft.com/office/drawing/2014/main" id="{4888E4C6-13A2-0C10-BD2B-B947201D92E4}"/>
              </a:ext>
            </a:extLst>
          </p:cNvPr>
          <p:cNvSpPr/>
          <p:nvPr/>
        </p:nvSpPr>
        <p:spPr>
          <a:xfrm>
            <a:off x="658368" y="4289077"/>
            <a:ext cx="10680192" cy="438912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6">
            <a:extLst>
              <a:ext uri="{FF2B5EF4-FFF2-40B4-BE49-F238E27FC236}">
                <a16:creationId xmlns:a16="http://schemas.microsoft.com/office/drawing/2014/main" id="{44EA087C-4300-5419-6117-60C8D42105F1}"/>
              </a:ext>
            </a:extLst>
          </p:cNvPr>
          <p:cNvSpPr/>
          <p:nvPr/>
        </p:nvSpPr>
        <p:spPr>
          <a:xfrm>
            <a:off x="731520" y="4362229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feature</a:t>
            </a:r>
            <a:endParaRPr lang="en-US" sz="870" dirty="0"/>
          </a:p>
        </p:txBody>
      </p:sp>
      <p:sp>
        <p:nvSpPr>
          <p:cNvPr id="55" name="Text 37">
            <a:extLst>
              <a:ext uri="{FF2B5EF4-FFF2-40B4-BE49-F238E27FC236}">
                <a16:creationId xmlns:a16="http://schemas.microsoft.com/office/drawing/2014/main" id="{6224CE2E-1DA5-2752-B8B8-D2CBE5CF402C}"/>
              </a:ext>
            </a:extLst>
          </p:cNvPr>
          <p:cNvSpPr/>
          <p:nvPr/>
        </p:nvSpPr>
        <p:spPr>
          <a:xfrm>
            <a:off x="2697480" y="4362229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calculation example</a:t>
            </a:r>
            <a:endParaRPr lang="en-US" sz="870" dirty="0"/>
          </a:p>
        </p:txBody>
      </p:sp>
      <p:sp>
        <p:nvSpPr>
          <p:cNvPr id="56" name="Text 38">
            <a:extLst>
              <a:ext uri="{FF2B5EF4-FFF2-40B4-BE49-F238E27FC236}">
                <a16:creationId xmlns:a16="http://schemas.microsoft.com/office/drawing/2014/main" id="{9D736A21-2C36-DEF5-5E94-0A832D21D229}"/>
              </a:ext>
            </a:extLst>
          </p:cNvPr>
          <p:cNvSpPr/>
          <p:nvPr/>
        </p:nvSpPr>
        <p:spPr>
          <a:xfrm>
            <a:off x="8869680" y="4362229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870" dirty="0"/>
          </a:p>
        </p:txBody>
      </p:sp>
      <p:sp>
        <p:nvSpPr>
          <p:cNvPr id="57" name="Shape 39">
            <a:extLst>
              <a:ext uri="{FF2B5EF4-FFF2-40B4-BE49-F238E27FC236}">
                <a16:creationId xmlns:a16="http://schemas.microsoft.com/office/drawing/2014/main" id="{002C36F0-E44C-95D3-5411-22DA7DB87DDC}"/>
              </a:ext>
            </a:extLst>
          </p:cNvPr>
          <p:cNvSpPr/>
          <p:nvPr/>
        </p:nvSpPr>
        <p:spPr>
          <a:xfrm>
            <a:off x="658368" y="4727989"/>
            <a:ext cx="106801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E34A59B2-0D42-D3EE-793F-18487EB91C0C}"/>
              </a:ext>
            </a:extLst>
          </p:cNvPr>
          <p:cNvSpPr/>
          <p:nvPr/>
        </p:nvSpPr>
        <p:spPr>
          <a:xfrm>
            <a:off x="731520" y="4801141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Debt_to_Income</a:t>
            </a:r>
            <a:endParaRPr lang="en-US" sz="870" dirty="0"/>
          </a:p>
        </p:txBody>
      </p:sp>
      <p:sp>
        <p:nvSpPr>
          <p:cNvPr id="59" name="Text 41">
            <a:extLst>
              <a:ext uri="{FF2B5EF4-FFF2-40B4-BE49-F238E27FC236}">
                <a16:creationId xmlns:a16="http://schemas.microsoft.com/office/drawing/2014/main" id="{68AEBEDD-638E-B8CF-4B95-84AAD393053A}"/>
              </a:ext>
            </a:extLst>
          </p:cNvPr>
          <p:cNvSpPr/>
          <p:nvPr/>
        </p:nvSpPr>
        <p:spPr>
          <a:xfrm>
            <a:off x="2697480" y="4801141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809.98 / (19114.12 + 1)</a:t>
            </a:r>
            <a:endParaRPr lang="en-US" sz="870" dirty="0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D262B385-B4B8-809F-B31D-C7118D8E3465}"/>
              </a:ext>
            </a:extLst>
          </p:cNvPr>
          <p:cNvSpPr/>
          <p:nvPr/>
        </p:nvSpPr>
        <p:spPr>
          <a:xfrm>
            <a:off x="8869680" y="4801141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0.0424</a:t>
            </a:r>
            <a:endParaRPr lang="en-US" sz="870" dirty="0"/>
          </a:p>
        </p:txBody>
      </p:sp>
      <p:sp>
        <p:nvSpPr>
          <p:cNvPr id="61" name="Shape 43">
            <a:extLst>
              <a:ext uri="{FF2B5EF4-FFF2-40B4-BE49-F238E27FC236}">
                <a16:creationId xmlns:a16="http://schemas.microsoft.com/office/drawing/2014/main" id="{DA00C24A-3B59-D991-3FBA-90B784677602}"/>
              </a:ext>
            </a:extLst>
          </p:cNvPr>
          <p:cNvSpPr/>
          <p:nvPr/>
        </p:nvSpPr>
        <p:spPr>
          <a:xfrm>
            <a:off x="658368" y="5166901"/>
            <a:ext cx="10680192" cy="438912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4">
            <a:extLst>
              <a:ext uri="{FF2B5EF4-FFF2-40B4-BE49-F238E27FC236}">
                <a16:creationId xmlns:a16="http://schemas.microsoft.com/office/drawing/2014/main" id="{9A43844B-21AB-CDAD-4A9B-B327493093D4}"/>
              </a:ext>
            </a:extLst>
          </p:cNvPr>
          <p:cNvSpPr/>
          <p:nvPr/>
        </p:nvSpPr>
        <p:spPr>
          <a:xfrm>
            <a:off x="731520" y="5240053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EMI_to_Salary</a:t>
            </a:r>
            <a:endParaRPr lang="en-US" sz="870" dirty="0"/>
          </a:p>
        </p:txBody>
      </p:sp>
      <p:sp>
        <p:nvSpPr>
          <p:cNvPr id="63" name="Text 45">
            <a:extLst>
              <a:ext uri="{FF2B5EF4-FFF2-40B4-BE49-F238E27FC236}">
                <a16:creationId xmlns:a16="http://schemas.microsoft.com/office/drawing/2014/main" id="{A64CC543-8928-E1EE-9C8A-E1B107F7E32B}"/>
              </a:ext>
            </a:extLst>
          </p:cNvPr>
          <p:cNvSpPr/>
          <p:nvPr/>
        </p:nvSpPr>
        <p:spPr>
          <a:xfrm>
            <a:off x="2697480" y="5240053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49.574949 / (1824.843333 + 1)</a:t>
            </a:r>
            <a:endParaRPr lang="en-US" sz="870" dirty="0"/>
          </a:p>
        </p:txBody>
      </p:sp>
      <p:sp>
        <p:nvSpPr>
          <p:cNvPr id="64" name="Text 46">
            <a:extLst>
              <a:ext uri="{FF2B5EF4-FFF2-40B4-BE49-F238E27FC236}">
                <a16:creationId xmlns:a16="http://schemas.microsoft.com/office/drawing/2014/main" id="{3E2B7725-774F-A53C-3F7D-8CCBCFBC49C8}"/>
              </a:ext>
            </a:extLst>
          </p:cNvPr>
          <p:cNvSpPr/>
          <p:nvPr/>
        </p:nvSpPr>
        <p:spPr>
          <a:xfrm>
            <a:off x="8869680" y="5240053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0.0272</a:t>
            </a:r>
            <a:endParaRPr lang="en-US" sz="870" dirty="0"/>
          </a:p>
        </p:txBody>
      </p:sp>
      <p:sp>
        <p:nvSpPr>
          <p:cNvPr id="65" name="Shape 47">
            <a:extLst>
              <a:ext uri="{FF2B5EF4-FFF2-40B4-BE49-F238E27FC236}">
                <a16:creationId xmlns:a16="http://schemas.microsoft.com/office/drawing/2014/main" id="{1563A7CA-B235-D083-4CEE-F23B08F2129B}"/>
              </a:ext>
            </a:extLst>
          </p:cNvPr>
          <p:cNvSpPr/>
          <p:nvPr/>
        </p:nvSpPr>
        <p:spPr>
          <a:xfrm>
            <a:off x="658368" y="5605813"/>
            <a:ext cx="106801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8">
            <a:extLst>
              <a:ext uri="{FF2B5EF4-FFF2-40B4-BE49-F238E27FC236}">
                <a16:creationId xmlns:a16="http://schemas.microsoft.com/office/drawing/2014/main" id="{413BAA93-C072-397B-28EE-93E3020A3AA5}"/>
              </a:ext>
            </a:extLst>
          </p:cNvPr>
          <p:cNvSpPr/>
          <p:nvPr/>
        </p:nvSpPr>
        <p:spPr>
          <a:xfrm>
            <a:off x="731520" y="5678965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Savings_Rate</a:t>
            </a:r>
            <a:endParaRPr lang="en-US" sz="870" dirty="0"/>
          </a:p>
        </p:txBody>
      </p:sp>
      <p:sp>
        <p:nvSpPr>
          <p:cNvPr id="67" name="Text 49">
            <a:extLst>
              <a:ext uri="{FF2B5EF4-FFF2-40B4-BE49-F238E27FC236}">
                <a16:creationId xmlns:a16="http://schemas.microsoft.com/office/drawing/2014/main" id="{79EFEA0A-703D-35F2-B21F-E6EBAC250B31}"/>
              </a:ext>
            </a:extLst>
          </p:cNvPr>
          <p:cNvSpPr/>
          <p:nvPr/>
        </p:nvSpPr>
        <p:spPr>
          <a:xfrm>
            <a:off x="2697480" y="5678965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80.415295 / (1824.843333 + 1)</a:t>
            </a:r>
            <a:endParaRPr lang="en-US" sz="870" dirty="0"/>
          </a:p>
        </p:txBody>
      </p:sp>
      <p:sp>
        <p:nvSpPr>
          <p:cNvPr id="68" name="Text 50">
            <a:extLst>
              <a:ext uri="{FF2B5EF4-FFF2-40B4-BE49-F238E27FC236}">
                <a16:creationId xmlns:a16="http://schemas.microsoft.com/office/drawing/2014/main" id="{6C59F8C2-9AC2-7D2A-4E7E-CD0B4D9FF8C5}"/>
              </a:ext>
            </a:extLst>
          </p:cNvPr>
          <p:cNvSpPr/>
          <p:nvPr/>
        </p:nvSpPr>
        <p:spPr>
          <a:xfrm>
            <a:off x="8869680" y="5678965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0.0440</a:t>
            </a:r>
            <a:endParaRPr lang="en-US" sz="870" dirty="0"/>
          </a:p>
        </p:txBody>
      </p:sp>
      <p:sp>
        <p:nvSpPr>
          <p:cNvPr id="69" name="Shape 51">
            <a:extLst>
              <a:ext uri="{FF2B5EF4-FFF2-40B4-BE49-F238E27FC236}">
                <a16:creationId xmlns:a16="http://schemas.microsoft.com/office/drawing/2014/main" id="{EDDF706E-391B-62DA-19EE-7CD0A3A05940}"/>
              </a:ext>
            </a:extLst>
          </p:cNvPr>
          <p:cNvSpPr/>
          <p:nvPr/>
        </p:nvSpPr>
        <p:spPr>
          <a:xfrm>
            <a:off x="658368" y="6044725"/>
            <a:ext cx="10680192" cy="438912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2">
            <a:extLst>
              <a:ext uri="{FF2B5EF4-FFF2-40B4-BE49-F238E27FC236}">
                <a16:creationId xmlns:a16="http://schemas.microsoft.com/office/drawing/2014/main" id="{62A77960-9AEE-2F7D-AE5A-ECDAFFFA51D9}"/>
              </a:ext>
            </a:extLst>
          </p:cNvPr>
          <p:cNvSpPr/>
          <p:nvPr/>
        </p:nvSpPr>
        <p:spPr>
          <a:xfrm>
            <a:off x="731520" y="6117877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Delay_per_Loan</a:t>
            </a:r>
            <a:endParaRPr lang="en-US" sz="870" dirty="0"/>
          </a:p>
        </p:txBody>
      </p:sp>
      <p:sp>
        <p:nvSpPr>
          <p:cNvPr id="71" name="Text 53">
            <a:extLst>
              <a:ext uri="{FF2B5EF4-FFF2-40B4-BE49-F238E27FC236}">
                <a16:creationId xmlns:a16="http://schemas.microsoft.com/office/drawing/2014/main" id="{F7E59AB8-9843-F4C7-01A0-0B56A688CC52}"/>
              </a:ext>
            </a:extLst>
          </p:cNvPr>
          <p:cNvSpPr/>
          <p:nvPr/>
        </p:nvSpPr>
        <p:spPr>
          <a:xfrm>
            <a:off x="2697480" y="6117877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(4 + 1)</a:t>
            </a:r>
            <a:endParaRPr lang="en-US" sz="870" dirty="0"/>
          </a:p>
        </p:txBody>
      </p:sp>
      <p:sp>
        <p:nvSpPr>
          <p:cNvPr id="72" name="Text 54">
            <a:extLst>
              <a:ext uri="{FF2B5EF4-FFF2-40B4-BE49-F238E27FC236}">
                <a16:creationId xmlns:a16="http://schemas.microsoft.com/office/drawing/2014/main" id="{6A0B04D8-0BCE-0924-A0F0-AEA40AF26816}"/>
              </a:ext>
            </a:extLst>
          </p:cNvPr>
          <p:cNvSpPr/>
          <p:nvPr/>
        </p:nvSpPr>
        <p:spPr>
          <a:xfrm>
            <a:off x="8869680" y="6117877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1.4000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Per-column meaning and preprocessing summary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224920"/>
            <a:ext cx="11292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24920"/>
            <a:ext cx="11292840" cy="502920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29807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group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947672" y="129807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columns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4370832" y="129807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6336792" y="129807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57200" y="172784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0352" y="180099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947672" y="180099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Customer_ID, Name, SSN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370832" y="180099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/ customer identifiers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336792" y="180099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ID, Name, SSN; drop Customer_ID after imputation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7200" y="223076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30352" y="230391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947672" y="230391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Occupation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370832" y="230391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customer profile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336792" y="230391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coercion of Age, NaN outside 18-100, mode-impute Occupation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57200" y="273368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0352" y="280683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947672" y="280683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Annual_Income, Monthly_Inhand_Salary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370832" y="280683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income / monthly take-home pay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336792" y="280683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Strip underscore, cast numeric, median imputation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57200" y="323660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0352" y="330975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usage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947672" y="330975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Outstanding_Debt, Credit_Utilization_Ratio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370832" y="330975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 amount and credit utilization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336792" y="330975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coercion, drop negative/unrealistic values, derive ratio features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57200" y="373952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30352" y="381267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947672" y="381267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Num_of_Loan, Type_of_Loan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370832" y="381267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count and loan type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336792" y="381267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 loan count, MultiLabelBinarize Type_of_Loan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57200" y="424244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30352" y="431559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delay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947672" y="431559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Delay_from_due_date, Num_of_Delayed_Payment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370832" y="431559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overdue and number of delayed payments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6336792" y="431559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negatives, NaN out-of-range, derive Delay_per_Loan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57200" y="474536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30352" y="481851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history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947672" y="481851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Credit_History_Age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370832" y="481851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 of credit history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336792" y="481851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'Years and Months' string to total months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57200" y="524828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30352" y="532143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1947672" y="532143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Amount_invested_monthly, Monthly_Balance, Payment_Behaviour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370832" y="532143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/ balance / spending behavior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6336792" y="532143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coercion, drop negatives, derive Savings_Rate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Stage-by-stage flow: preprocessing comparison to final evaluation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94360" y="1309596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8952" y="147418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32104" y="1542768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1645920" y="1455900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Outlier-handling comparison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3657600" y="147418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/ domain / domain_percentile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645920" y="1830804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Quantify the effect of outlier handling on performance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217920" y="1309596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382512" y="147418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55664" y="1542768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69480" y="1455900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Imbalance-handling comparison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9281160" y="147418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/ class_weight / SMOTE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269480" y="1830804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whether imbalance handling actually raises Macro-F1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94360" y="2790924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58952" y="2955516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2104" y="3024096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45920" y="2937228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Preprocessing-combination comparison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3657600" y="29555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scalers × 3 encoders = 9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645920" y="3312132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numeric scaling x categorical encoding combinations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217920" y="2790924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82512" y="2955516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55664" y="3024096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937228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comparison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9281160" y="29555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/ DT / RF / GB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269480" y="3312132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models from a linear baseline to tree ensembles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594360" y="4272252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58952" y="4436844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32104" y="4505424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45920" y="4418556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 tuning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3657600" y="443684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GridSearchCV on best model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1645920" y="4793460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n_estimators, max_depth, etc. on the best model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217920" y="4272252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382512" y="4436844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55664" y="4505424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69480" y="4418556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hold-out evaluation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9281160" y="443684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holdout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7269480" y="4793460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confusion matrix and per-class precision / recall / F1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comparison: validating outlier and encoder choices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ablation_outli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5111496" cy="27340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115568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Users/hanhalam/Desktop/DS-credit-score-project/reports/figures/ablation_preprocess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5352" y="1188720"/>
            <a:ext cx="5111496" cy="27340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4117476"/>
            <a:ext cx="10771632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58368" y="4117476"/>
            <a:ext cx="10771632" cy="374904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31520" y="4190628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 mode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2286000" y="4190628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5074920" y="4190628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658368" y="4492380"/>
            <a:ext cx="10771632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31520" y="4565532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2286000" y="4565532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baseline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5074920" y="4565532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raw values without any outlier handling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658368" y="4867284"/>
            <a:ext cx="10771632" cy="37490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731520" y="4940436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2286000" y="4940436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Analyst-defined realistic ranges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5074920" y="4940436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18-100 | Bank Accounts 0-20 | Credit Card 0-20 | Interest Rate 0-100 | Loan 0-20 | Delayed Payment 0-100 | Credit Inquiries 0-100 | Drop negatives on Due Date / Balance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658368" y="5242188"/>
            <a:ext cx="10771632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731520" y="5315340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domain_percentile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2286000" y="5315340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+ statistical extremes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5074920" y="5315340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domain pass, NaN the bottom 0.5% and top 0.5% of every numeric column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658368" y="5662812"/>
            <a:ext cx="10771632" cy="727668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914400" y="5713824"/>
            <a:ext cx="10241280" cy="59982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Outlier comparison: none / domain / domain_percentile</a:t>
            </a:r>
            <a:endParaRPr lang="en-US" sz="100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Preprocessing matrix: 3 scalers (Standard, MinMax, Robust) x 3 encoders (OneHot, Ordinal, Target) = 9 combinations</a:t>
            </a:r>
            <a:endParaRPr lang="en-US" sz="100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Domain-based outlier removal is more stable than none, and OneHotEncoder yields the most consistent performance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IMBALANCE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Imbalance-handling comparison results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678484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ablation_imbal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16152"/>
            <a:ext cx="6638544" cy="4105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143000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095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Strategies compared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59" y="1610264"/>
            <a:ext cx="3460055" cy="1434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None: leave class imbalance untouched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class_weight='balanced': stronger weights for minority classes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SMOTE: synthesize minority-class samples</a:t>
            </a:r>
            <a:r>
              <a:rPr lang="en-US" sz="112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90956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909560" y="3512217"/>
            <a:ext cx="3154680" cy="156178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Random Forest, the 'None' strategy yields the highest Macro-F1</a:t>
            </a:r>
            <a:r>
              <a:rPr lang="en-US" sz="106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06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SMOTE's linear interpolation likely injects noise into financial-behavior distributions</a:t>
            </a:r>
            <a:endParaRPr lang="en-US" sz="106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Imbalance handling must be validated empirically</a:t>
            </a:r>
            <a:endParaRPr lang="en-US" sz="10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Modeling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compared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32513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86968" y="152630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95928" y="150801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069080" y="157659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baseline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86968" y="198350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and interpretable, but limited on non-linear interactions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190488" y="132513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19088" y="152630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28048" y="150801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601200" y="157659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tree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19088" y="198350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splits; single tree risks overfitting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29109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86968" y="349226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95928" y="347397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069080" y="354255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ensemble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6968" y="394946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Voting across trees is robust to noise and non-linear patterns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90488" y="329109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19088" y="349226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28048" y="347397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601200" y="354255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19088" y="394946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Iteratively corrects weak learners, but sensitive to settings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/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06 Evaluation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/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Team 6 Data Science Term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EVALUATION</a:t>
            </a:r>
            <a:endParaRPr lang="en-US" sz="850" dirty="0">
              <a:solidFill>
                <a:srgbClr val="0F766E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/>
            <a:r>
              <a:rPr lang="en-US" sz="250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Evaluation strategy: CV-based model comparison and tuning</a:t>
            </a:r>
            <a:endParaRPr lang="en-US" sz="250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58368" y="1298448"/>
            <a:ext cx="3063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ircle 1"/>
          <p:cNvSpPr/>
          <p:nvPr/>
        </p:nvSpPr>
        <p:spPr>
          <a:xfrm>
            <a:off x="822960" y="149961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822960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1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16736" y="14630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Model comparison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16736" y="181051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Compare four models via Stratified k-fold CV</a:t>
            </a:r>
          </a:p>
        </p:txBody>
      </p:sp>
      <p:sp>
        <p:nvSpPr>
          <p:cNvPr id="12" name="Arrow 12"/>
          <p:cNvSpPr/>
          <p:nvPr/>
        </p:nvSpPr>
        <p:spPr>
          <a:xfrm>
            <a:off x="3904488" y="1901952"/>
            <a:ext cx="329184" cy="219456"/>
          </a:xfrm>
          <a:prstGeom prst="chevron">
            <a:avLst/>
          </a:prstGeom>
          <a:solidFill>
            <a:srgbClr val="DCE8F7"/>
          </a:solidFill>
          <a:ln w="12700">
            <a:solidFill>
              <a:srgbClr val="DCE8F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4343400" y="1298448"/>
            <a:ext cx="3566160" cy="1417320"/>
          </a:xfrm>
          <a:prstGeom prst="roundRect">
            <a:avLst/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ircle 2"/>
          <p:cNvSpPr/>
          <p:nvPr/>
        </p:nvSpPr>
        <p:spPr>
          <a:xfrm>
            <a:off x="4507992" y="1499616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507992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2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01768" y="146304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GridSearchCV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01768" y="181051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Search optimal hyperparameters on the best model</a:t>
            </a:r>
          </a:p>
        </p:txBody>
      </p:sp>
      <p:sp>
        <p:nvSpPr>
          <p:cNvPr id="22" name="Arrow 22"/>
          <p:cNvSpPr/>
          <p:nvPr/>
        </p:nvSpPr>
        <p:spPr>
          <a:xfrm>
            <a:off x="8092440" y="1901952"/>
            <a:ext cx="329184" cy="219456"/>
          </a:xfrm>
          <a:prstGeom prst="chevron">
            <a:avLst/>
          </a:prstGeom>
          <a:solidFill>
            <a:srgbClr val="DCE8F7"/>
          </a:solidFill>
          <a:ln w="12700">
            <a:solidFill>
              <a:srgbClr val="DCE8F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3"/>
          <p:cNvSpPr/>
          <p:nvPr/>
        </p:nvSpPr>
        <p:spPr>
          <a:xfrm>
            <a:off x="8549640" y="1298448"/>
            <a:ext cx="2926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ircle 3"/>
          <p:cNvSpPr/>
          <p:nvPr/>
        </p:nvSpPr>
        <p:spPr>
          <a:xfrm>
            <a:off x="8714232" y="149961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8714232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3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08008" y="146304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Holdout Evaluation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08008" y="181051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Compute confusion matrix and per-class metrics on a 20% hold-out split</a:t>
            </a:r>
          </a:p>
        </p:txBody>
      </p:sp>
      <p:sp>
        <p:nvSpPr>
          <p:cNvPr id="28" name="Shape 28"/>
          <p:cNvSpPr/>
          <p:nvPr/>
        </p:nvSpPr>
        <p:spPr>
          <a:xfrm>
            <a:off x="822960" y="3246120"/>
            <a:ext cx="48920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822960" y="3246120"/>
            <a:ext cx="489204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896112" y="331927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Metric</a:t>
            </a:r>
            <a:endParaRPr lang="en-US" sz="92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496312" y="331927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Why it matters</a:t>
            </a:r>
            <a:endParaRPr lang="en-US" sz="92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822960" y="3749040"/>
            <a:ext cx="4892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896112" y="382219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Accuracy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496312" y="382219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Check overall prediction accuracy</a:t>
            </a:r>
          </a:p>
        </p:txBody>
      </p:sp>
      <p:sp>
        <p:nvSpPr>
          <p:cNvPr id="35" name="Shape 35"/>
          <p:cNvSpPr/>
          <p:nvPr/>
        </p:nvSpPr>
        <p:spPr>
          <a:xfrm>
            <a:off x="822960" y="4251960"/>
            <a:ext cx="489204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896112" y="432511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Macro-F1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496312" y="432511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Plain arithmetic mean of per-class F1 scores</a:t>
            </a:r>
          </a:p>
        </p:txBody>
      </p:sp>
      <p:sp>
        <p:nvSpPr>
          <p:cNvPr id="38" name="Shape 38"/>
          <p:cNvSpPr/>
          <p:nvPr/>
        </p:nvSpPr>
        <p:spPr>
          <a:xfrm>
            <a:off x="822960" y="4754880"/>
            <a:ext cx="4892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896112" y="482803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Macro-Recall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496312" y="482803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Check that no class is being missed</a:t>
            </a:r>
          </a:p>
        </p:txBody>
      </p:sp>
      <p:sp>
        <p:nvSpPr>
          <p:cNvPr id="41" name="Shape 41"/>
          <p:cNvSpPr/>
          <p:nvPr/>
        </p:nvSpPr>
        <p:spPr>
          <a:xfrm>
            <a:off x="822960" y="5257800"/>
            <a:ext cx="489204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896112" y="533095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Confusion Matrix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496312" y="533095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Diagnose which classes are confused with each other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Evaluation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Model-comparison results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57150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cv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5568696" cy="40142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65392" y="1207008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565392" y="1207008"/>
            <a:ext cx="4572000" cy="475488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638544" y="1280160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38744" y="1280160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98864" y="1280160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Macro-Recall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50424" y="1280160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65392" y="1682496"/>
            <a:ext cx="45720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638544" y="1755648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38744" y="1755648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0.7697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98864" y="1755648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0.8001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50424" y="1755648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0.7794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65392" y="2157984"/>
            <a:ext cx="4572000" cy="47548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638544" y="2231136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38744" y="2231136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0.7179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198864" y="2231136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0.7584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250424" y="2231136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0.7239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65392" y="2633472"/>
            <a:ext cx="45720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638544" y="2706624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38744" y="2706624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0.6948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198864" y="2706624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0.7038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250424" y="2706624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0.7142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65392" y="3108960"/>
            <a:ext cx="4572000" cy="47548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638544" y="3182112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238744" y="3182112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0.6567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198864" y="3182112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0.7032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250424" y="3182112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0.6647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65392" y="3950208"/>
            <a:ext cx="4572000" cy="1298448"/>
          </a:xfrm>
          <a:prstGeom prst="roundRect">
            <a:avLst>
              <a:gd name="adj" fmla="val 5634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812280" y="4111752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Random Forest wins</a:t>
            </a:r>
            <a:r>
              <a:rPr lang="ko-KR" alt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812280" y="4251452"/>
            <a:ext cx="3886200" cy="9509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non-linear financial patterns and feature interactions</a:t>
            </a:r>
            <a:endParaRPr lang="en-US" sz="95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Voting across trees is more stable than a single tree</a:t>
            </a:r>
            <a:endParaRPr lang="en-US" sz="95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Relatively robust to noise and outliers in tabular data</a:t>
            </a:r>
            <a:r>
              <a:rPr 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ko-KR" alt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ko-KR" alt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Final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model: Random Forest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13816" y="1362456"/>
            <a:ext cx="16642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0.8187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13816" y="1755648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Accuracy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834640" y="12344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62656" y="1362456"/>
            <a:ext cx="17099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0.8114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962656" y="1755648"/>
            <a:ext cx="17099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Macro-F1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029200" y="12344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57216" y="1362456"/>
            <a:ext cx="18928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157216" y="1755648"/>
            <a:ext cx="1892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Macro-Recall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516368" y="12344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54112" y="1285047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54112" y="1466028"/>
            <a:ext cx="2788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chemeClr val="accent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n_estimators=400 | max_depth=None | min_samples_leaf=1</a:t>
            </a:r>
            <a:endParaRPr lang="en-US" sz="880" dirty="0">
              <a:solidFill>
                <a:schemeClr val="accent5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" y="2487168"/>
            <a:ext cx="4892040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/Users/hanhalam/Desktop/DS-credit-score-project/reports/figures/confusion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560320"/>
            <a:ext cx="4745736" cy="31272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06440" y="2487168"/>
            <a:ext cx="5413248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/Users/hanhalam/Desktop/DS-credit-score-project/reports/figures/per_class_metric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79592" y="2560320"/>
            <a:ext cx="5266944" cy="3127248"/>
          </a:xfrm>
          <a:prstGeom prst="rect">
            <a:avLst/>
          </a:prstGeom>
        </p:spPr>
      </p:pic>
      <p:sp>
        <p:nvSpPr>
          <p:cNvPr id="23" name="Tuning setup"/>
          <p:cNvSpPr txBox="1"/>
          <p:nvPr/>
        </p:nvSpPr>
        <p:spPr>
          <a:xfrm>
            <a:off x="7754112" y="1642869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20" b="1" dirty="0">
                <a:solidFill>
                  <a:srgbClr val="0F766E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Tuning setup</a:t>
            </a:r>
            <a:endParaRPr lang="en-US" sz="820" dirty="0">
              <a:solidFill>
                <a:srgbClr val="0F766E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4" name="Tuning details"/>
          <p:cNvSpPr txBox="1"/>
          <p:nvPr/>
        </p:nvSpPr>
        <p:spPr>
          <a:xfrm>
            <a:off x="7754112" y="1787850"/>
            <a:ext cx="33223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GridSearchCV: Stratified 5-fold, scoring=f1_macro</a:t>
            </a:r>
          </a:p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Search grid: n_estimators [200, 400]</a:t>
            </a:r>
          </a:p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max_depth [15, 25, None], min_samples_leaf [1, 5]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-26633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FooterR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</a:rPr>
              <a:t>Team 6 Data Science Term Project</a:t>
            </a:r>
          </a:p>
        </p:txBody>
      </p:sp>
      <p:sp>
        <p:nvSpPr>
          <p:cNvPr id="5" name="SectionLabel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</a:rPr>
              <a:t>AUXILIARY TASKS</a:t>
            </a:r>
          </a:p>
        </p:txBody>
      </p:sp>
      <p:sp>
        <p:nvSpPr>
          <p:cNvPr id="6" name="Title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</a:rPr>
              <a:t>Auxiliary analyses: Regression &amp; Clustering</a:t>
            </a:r>
          </a:p>
        </p:txBody>
      </p:sp>
      <p:sp>
        <p:nvSpPr>
          <p:cNvPr id="10" name="RegBox"/>
          <p:cNvSpPr/>
          <p:nvPr/>
        </p:nvSpPr>
        <p:spPr>
          <a:xfrm>
            <a:off x="438912" y="1280160"/>
            <a:ext cx="5486400" cy="500000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RegTitle"/>
          <p:cNvSpPr/>
          <p:nvPr/>
        </p:nvSpPr>
        <p:spPr>
          <a:xfrm>
            <a:off x="657072" y="1390000"/>
            <a:ext cx="5000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ko-KR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</a:rPr>
              <a:t>Regression -- Monthly_Balance prediction</a:t>
            </a:r>
          </a:p>
        </p:txBody>
      </p:sp>
      <p:sp>
        <p:nvSpPr>
          <p:cNvPr id="12" name="RegDesc"/>
          <p:cNvSpPr/>
          <p:nvPr/>
        </p:nvSpPr>
        <p:spPr>
          <a:xfrm>
            <a:off x="657072" y="1780000"/>
            <a:ext cx="5000000" cy="300000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pPr marL="0" indent="0" algn="l">
              <a:buNone/>
            </a:pP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Regression predicting end-of-month balance from the remaining features</a:t>
            </a:r>
          </a:p>
        </p:txBody>
      </p:sp>
      <p:sp>
        <p:nvSpPr>
          <p:cNvPr id="13" name="RegTableHeader"/>
          <p:cNvSpPr/>
          <p:nvPr/>
        </p:nvSpPr>
        <p:spPr>
          <a:xfrm>
            <a:off x="657072" y="2150000"/>
            <a:ext cx="5000000" cy="310896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</a:rPr>
              <a:t>Model                    R^2         MAE</a:t>
            </a:r>
          </a:p>
        </p:txBody>
      </p:sp>
      <p:sp>
        <p:nvSpPr>
          <p:cNvPr id="14" name="RegRow1"/>
          <p:cNvSpPr/>
          <p:nvPr/>
        </p:nvSpPr>
        <p:spPr>
          <a:xfrm>
            <a:off x="657072" y="2460896"/>
            <a:ext cx="5000000" cy="30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1EC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</a:rPr>
              <a:t>Ridge                        0.70        83.18</a:t>
            </a:r>
          </a:p>
        </p:txBody>
      </p:sp>
      <p:sp>
        <p:nvSpPr>
          <p:cNvPr id="15" name="RegRow2"/>
          <p:cNvSpPr/>
          <p:nvPr/>
        </p:nvSpPr>
        <p:spPr>
          <a:xfrm>
            <a:off x="657072" y="2760896"/>
            <a:ext cx="5000000" cy="300000"/>
          </a:xfrm>
          <a:prstGeom prst="rect">
            <a:avLst/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</a:rPr>
              <a:t>GradientBoosting     0.92 *    33.14</a:t>
            </a:r>
          </a:p>
        </p:txBody>
      </p:sp>
      <p:sp>
        <p:nvSpPr>
          <p:cNvPr id="16" name="RegConclusion"/>
          <p:cNvSpPr/>
          <p:nvPr/>
        </p:nvSpPr>
        <p:spPr>
          <a:xfrm>
            <a:off x="559552" y="3423657"/>
            <a:ext cx="5000000" cy="310896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-&gt; GradientBoosting explains 92% of end-of-month balance variance (R^2 = 0.92)</a:t>
            </a:r>
            <a:r>
              <a:rPr lang="ko-KR" sz="1400" dirty="0" err="1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/>
            </a: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/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</a:rPr>
              <a:t/>
            </a: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/>
            </a:r>
          </a:p>
        </p:txBody>
      </p:sp>
      <p:sp>
        <p:nvSpPr>
          <p:cNvPr id="20" name="ClustBox"/>
          <p:cNvSpPr/>
          <p:nvPr/>
        </p:nvSpPr>
        <p:spPr>
          <a:xfrm>
            <a:off x="6205872" y="1280160"/>
            <a:ext cx="5547168" cy="500000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ClustTitle"/>
          <p:cNvSpPr/>
          <p:nvPr/>
        </p:nvSpPr>
        <p:spPr>
          <a:xfrm>
            <a:off x="6424032" y="1390000"/>
            <a:ext cx="5100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ko-KR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</a:rPr>
              <a:t>Clustering -- spending-behavior clusters</a:t>
            </a:r>
          </a:p>
        </p:txBody>
      </p:sp>
      <p:sp>
        <p:nvSpPr>
          <p:cNvPr id="22" name="ClustDesc"/>
          <p:cNvSpPr/>
          <p:nvPr/>
        </p:nvSpPr>
        <p:spPr>
          <a:xfrm>
            <a:off x="6424032" y="1780000"/>
            <a:ext cx="5100000" cy="300000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pPr marL="0" indent="0" algn="l">
              <a:buNone/>
            </a:pP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KMeans (k=4) on 7 spending / saving features</a:t>
            </a:r>
          </a:p>
        </p:txBody>
      </p:sp>
      <p:sp>
        <p:nvSpPr>
          <p:cNvPr id="24" name="ClustConclusion"/>
          <p:cNvSpPr/>
          <p:nvPr/>
        </p:nvSpPr>
        <p:spPr>
          <a:xfrm>
            <a:off x="6424032" y="5050000"/>
            <a:ext cx="5100000" cy="310896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r>
              <a:rPr 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</a:rPr>
              <a:t>-&gt; Silhouette peaks at k=5 (0.37); k=4 chosen by the elbow heuristic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endParaRPr lang="ko-KR" sz="1400" dirty="0">
              <a:solidFill>
                <a:schemeClr val="tx1">
                  <a:lumMod val="65000"/>
                  <a:lumOff val="35000"/>
                </a:schemeClr>
              </a:solidFill>
              <a:latin typeface="Aptos" pitchFamily="34" charset="0"/>
              <a:ea typeface="Aptos" pitchFamily="34" charset="-12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135909-33F0-4F18-9A53-7318C2BCB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32" y="2051151"/>
            <a:ext cx="4150867" cy="26197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0624" y="543269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Experience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9768" y="1142999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insights and improvements gained while running the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85416"/>
            <a:ext cx="5394960" cy="3374136"/>
          </a:xfrm>
          <a:prstGeom prst="roundRect">
            <a:avLst>
              <a:gd name="adj" fmla="val 3523"/>
            </a:avLst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blurRad="1016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185416"/>
            <a:ext cx="64008" cy="337413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23408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Challenges and resolutions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688336"/>
            <a:ext cx="4992624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2862072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" y="28620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86207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Windows SMOTE OpenMP DLL conflict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191256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9808" y="319125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-&gt; Resolved by pinning llvm-openmp / intel-openmp in environment.yml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749040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749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74904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Complexity of dirty-data preprocessing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078224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07822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-&gt; Systematized into a 9-step placeholder / underscore / domain-cutoff pipeline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636008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8368" y="4636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636008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notebook to package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4965192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9808" y="496519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-&gt; Split into 8 src/ modules; reproducible end-to-end via `python -m src.train --all`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30975" y="2185416"/>
            <a:ext cx="5394960" cy="3374136"/>
          </a:xfrm>
          <a:prstGeom prst="roundRect">
            <a:avLst>
              <a:gd name="adj" fmla="val 3523"/>
            </a:avLst>
          </a:prstGeom>
          <a:solidFill>
            <a:srgbClr val="FFFFFF"/>
          </a:solidFill>
          <a:ln w="19050">
            <a:solidFill>
              <a:srgbClr val="BBF7D0"/>
            </a:solidFill>
            <a:prstDash val="solid"/>
          </a:ln>
          <a:effectLst>
            <a:outerShdw blurRad="1016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30975" y="2185416"/>
            <a:ext cx="64008" cy="337413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32143" y="23408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32143" y="2688336"/>
            <a:ext cx="4992624" cy="0"/>
          </a:xfrm>
          <a:prstGeom prst="line">
            <a:avLst/>
          </a:prstGeom>
          <a:noFill/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632143" y="2862072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32143" y="28620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79615" y="286207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SMOTE does not always improve performance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32143" y="3191256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23583" y="319125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Tree ensembles already handle imbalance; SMOTE can backfire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32143" y="3749040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32143" y="3749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79615" y="374904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Encoder choice matters more than scaler choice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32143" y="4078224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723583" y="407822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Categorical encoding has a more direct impact on performance than numeric scaling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32143" y="4636008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32143" y="4636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79615" y="4636008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Automated artifact persistence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32143" y="4965192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723583" y="496519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Auto-saving every experiment shortened report writing and locked in reproducibility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-243688" y="637794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635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6 Data Science Term Project</a:t>
            </a:r>
            <a:endParaRPr lang="en-US" sz="900" dirty="0"/>
          </a:p>
        </p:txBody>
      </p:sp>
      <p:sp>
        <p:nvSpPr>
          <p:cNvPr id="45" name="TopBar">
            <a:extLst>
              <a:ext uri="{FF2B5EF4-FFF2-40B4-BE49-F238E27FC236}">
                <a16:creationId xmlns:a16="http://schemas.microsoft.com/office/drawing/2014/main" id="{A0237DE9-9CC7-474F-BCBE-219382570CEE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FE0AECD9-447F-485E-B884-C2AE3D849457}"/>
              </a:ext>
            </a:extLst>
          </p:cNvPr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</a:rPr>
              <a:t>Learning</a:t>
            </a:r>
            <a:r>
              <a:rPr lang="ko-KR" alt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</a:rPr>
              <a:t> </a:t>
            </a:r>
            <a:r>
              <a:rPr lang="en-US" altLang="ko-KR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</a:rPr>
              <a:t>Experience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99" y="5715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 Source SW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98" y="11901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full source has been published on GitHub; the src/ module layout makes the pipeline fully reproducible.</a:t>
            </a:r>
            <a:endParaRPr lang="en-US" sz="16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88A1B6F-619B-4160-A77D-2B6320005F7A}"/>
              </a:ext>
            </a:extLst>
          </p:cNvPr>
          <p:cNvGrpSpPr/>
          <p:nvPr/>
        </p:nvGrpSpPr>
        <p:grpSpPr>
          <a:xfrm>
            <a:off x="457197" y="1703802"/>
            <a:ext cx="11277295" cy="585216"/>
            <a:chOff x="512064" y="2185416"/>
            <a:chExt cx="11277295" cy="585216"/>
          </a:xfrm>
        </p:grpSpPr>
        <p:sp>
          <p:nvSpPr>
            <p:cNvPr id="5" name="Shape 3"/>
            <p:cNvSpPr/>
            <p:nvPr/>
          </p:nvSpPr>
          <p:spPr>
            <a:xfrm>
              <a:off x="512064" y="2185416"/>
              <a:ext cx="11277295" cy="585216"/>
            </a:xfrm>
            <a:prstGeom prst="roundRect">
              <a:avLst>
                <a:gd name="adj" fmla="val 15625"/>
              </a:avLst>
            </a:prstGeom>
            <a:solidFill>
              <a:srgbClr val="181E25"/>
            </a:solidFill>
            <a:ln/>
            <a:effectLst>
              <a:outerShdw blurRad="190500" dist="50800" dir="8100000" algn="bl" rotWithShape="0">
                <a:srgbClr val="2C1E74">
                  <a:alpha val="16000"/>
                </a:srgbClr>
              </a:outerShdw>
            </a:effectLst>
          </p:spPr>
        </p:sp>
        <p:sp>
          <p:nvSpPr>
            <p:cNvPr id="6" name="Text 4"/>
            <p:cNvSpPr/>
            <p:nvPr/>
          </p:nvSpPr>
          <p:spPr>
            <a:xfrm>
              <a:off x="731520" y="2185416"/>
              <a:ext cx="10728655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E8E9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오픈소스 공개  </a:t>
              </a:r>
              <a:r>
                <a:rPr lang="en-US" sz="1400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github.com/Hanharam/DS-credit-score-project</a:t>
              </a:r>
              <a:endParaRPr lang="en-US" sz="14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9AFAAE1-24C2-4B93-BD14-1B6945AB4C74}"/>
              </a:ext>
            </a:extLst>
          </p:cNvPr>
          <p:cNvGrpSpPr/>
          <p:nvPr/>
        </p:nvGrpSpPr>
        <p:grpSpPr>
          <a:xfrm>
            <a:off x="457200" y="2516109"/>
            <a:ext cx="11277295" cy="3703320"/>
            <a:chOff x="457200" y="2971800"/>
            <a:chExt cx="11277295" cy="3703320"/>
          </a:xfrm>
        </p:grpSpPr>
        <p:sp>
          <p:nvSpPr>
            <p:cNvPr id="7" name="Text 5"/>
            <p:cNvSpPr/>
            <p:nvPr/>
          </p:nvSpPr>
          <p:spPr>
            <a:xfrm>
              <a:off x="457200" y="2971800"/>
              <a:ext cx="11277295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src/  모듈 구조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3337560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457200" y="3337560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640080" y="3493008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76656" y="3493008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preprocessing.py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730752" y="3337560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cleaning, imputation, feature engineering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" y="3986784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57200" y="3986784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640080" y="4142232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76656" y="4142232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model.py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730752" y="3986784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모델 정의 및 파라미터 그리드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7200" y="4636008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457200" y="4636008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40080" y="4791456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76656" y="4791456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evaluate.py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730752" y="4636008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CV, holdout, GridSearch, ablations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57200" y="5285232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457200" y="5285232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640080" y="5440680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76656" y="5440680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auxiliary.py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730752" y="5285232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regression, clustering</a:t>
              </a:r>
              <a:endParaRPr lang="en-US" sz="1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57200" y="5934456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57200" y="5934456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640080" y="6089904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76656" y="6089904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visualize.py / eda.py / train.py</a:t>
              </a:r>
              <a:endParaRPr lang="en-US" sz="11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730752" y="5934456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시각화, EDA, 전체 파이프라인 CLI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57200" y="644652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8E9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9</a:t>
              </a:r>
              <a:endParaRPr lang="en-US" sz="10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-213064" y="644652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635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6 Data Science Term Project</a:t>
            </a:r>
            <a:endParaRPr lang="en-US" sz="900" dirty="0"/>
          </a:p>
        </p:txBody>
      </p:sp>
      <p:sp>
        <p:nvSpPr>
          <p:cNvPr id="37" name="TopBar">
            <a:extLst>
              <a:ext uri="{FF2B5EF4-FFF2-40B4-BE49-F238E27FC236}">
                <a16:creationId xmlns:a16="http://schemas.microsoft.com/office/drawing/2014/main" id="{F22BE863-EBAD-43A4-9D62-96B5FC47E741}"/>
              </a:ext>
            </a:extLst>
          </p:cNvPr>
          <p:cNvSpPr/>
          <p:nvPr/>
        </p:nvSpPr>
        <p:spPr>
          <a:xfrm>
            <a:off x="0" y="-26633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Open Source SW Contribution -- Full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Single top-level function run_full_sweep() (src/sweep.py) evaluates every scaler x encoder x model x hyperparameter combination via Stratified k-fold CV and returns the leaderboard, top 5, and best configuration. Executed on an 8,000-row stratified subsample with 3-fold CV (135 configurations, 405 fits, ~33 min).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9456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18160">
                <a:tc>
                  <a:txBody>
                    <a:bodyPr/>
                    <a:lstStyle/>
                    <a:p>
                      <a:r>
                        <a:rPr b="1" sz="120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Scaler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Macro-F1 (mean +/- std)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n_estimators=400, max_depth=15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0.6962 +/- 0.0035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n_estimators=400, max_depth=15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0.6942 +/- 0.0032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n_estimators=400, max_depth=15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0.6940 +/- 0.0032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n_estimators=400, max_depth=15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0.6938 +/- 0.0043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n_estimators=200, max_depth=15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0.6938 +/- 0.0050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BEST: RandomForest | minmax + ordinal | n_estimators=400, max_depth=15 | Macro-F1 = 0.6962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2312</Words>
  <Application>Microsoft Office PowerPoint</Application>
  <PresentationFormat>와이드스크린</PresentationFormat>
  <Paragraphs>462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Pretendard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Data Science Term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Score Classification</dc:title>
  <dc:subject>Credit Score Classification</dc:subject>
  <dc:creator>Team 6</dc:creator>
  <cp:lastModifiedBy>이시우</cp:lastModifiedBy>
  <cp:revision>17</cp:revision>
  <dcterms:created xsi:type="dcterms:W3CDTF">2026-05-28T15:08:21Z</dcterms:created>
  <dcterms:modified xsi:type="dcterms:W3CDTF">2026-05-31T06:52:05Z</dcterms:modified>
</cp:coreProperties>
</file>